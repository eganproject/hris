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371600"/>
            <a:ext cx="347472" cy="685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89888" y="1371600"/>
            <a:ext cx="347472"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65376" y="1371600"/>
            <a:ext cx="347472" cy="6858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40864" y="1371600"/>
            <a:ext cx="347472" cy="6858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00784"/>
            <a:ext cx="8229600" cy="292608"/>
          </a:xfrm>
          <a:prstGeom prst="rect">
            <a:avLst/>
          </a:prstGeom>
          <a:noFill/>
        </p:spPr>
        <p:txBody>
          <a:bodyPr wrap="square" lIns="0" rIns="0" tIns="0" bIns="0" anchor="t">
            <a:spAutoFit/>
          </a:bodyPr>
          <a:lstStyle/>
          <a:p>
            <a:pPr algn="l">
              <a:lnSpc>
                <a:spcPct val="115000"/>
              </a:lnSpc>
            </a:pPr>
            <a:r>
              <a:rPr sz="1200" b="1" i="0">
                <a:solidFill>
                  <a:srgbClr val="94A3B8"/>
                </a:solidFill>
                <a:latin typeface="Segoe UI"/>
              </a:rPr>
              <a:t>PANDUAN PENGGUNA · HRIS CAHAYA OPTIMA KARYA</a:t>
            </a:r>
          </a:p>
        </p:txBody>
      </p:sp>
      <p:sp>
        <p:nvSpPr>
          <p:cNvPr id="9" name="TextBox 8"/>
          <p:cNvSpPr txBox="1"/>
          <p:nvPr/>
        </p:nvSpPr>
        <p:spPr>
          <a:xfrm>
            <a:off x="914400" y="2148840"/>
            <a:ext cx="9601200" cy="1737360"/>
          </a:xfrm>
          <a:prstGeom prst="rect">
            <a:avLst/>
          </a:prstGeom>
          <a:noFill/>
        </p:spPr>
        <p:txBody>
          <a:bodyPr wrap="square" lIns="0" rIns="0" tIns="0" bIns="0" anchor="t">
            <a:spAutoFit/>
          </a:bodyPr>
          <a:lstStyle/>
          <a:p>
            <a:pPr algn="l">
              <a:lnSpc>
                <a:spcPct val="95000"/>
              </a:lnSpc>
            </a:pPr>
            <a:r>
              <a:rPr sz="5200" b="1" i="0">
                <a:solidFill>
                  <a:srgbClr val="FFFFFF"/>
                </a:solidFill>
                <a:latin typeface="Segoe UI"/>
              </a:rPr>
              <a:t>Jadwal, Cuti &amp;</a:t>
            </a:r>
          </a:p>
          <a:p>
            <a:pPr algn="l">
              <a:lnSpc>
                <a:spcPct val="95000"/>
              </a:lnSpc>
            </a:pPr>
            <a:r>
              <a:rPr sz="5200" b="1" i="0">
                <a:solidFill>
                  <a:srgbClr val="FFFFFF"/>
                </a:solidFill>
                <a:latin typeface="Segoe UI"/>
              </a:rPr>
              <a:t>Absensi WFH</a:t>
            </a:r>
          </a:p>
        </p:txBody>
      </p:sp>
      <p:sp>
        <p:nvSpPr>
          <p:cNvPr id="10" name="TextBox 9"/>
          <p:cNvSpPr txBox="1"/>
          <p:nvPr/>
        </p:nvSpPr>
        <p:spPr>
          <a:xfrm>
            <a:off x="914400" y="4160520"/>
            <a:ext cx="6766560" cy="914400"/>
          </a:xfrm>
          <a:prstGeom prst="rect">
            <a:avLst/>
          </a:prstGeom>
          <a:noFill/>
        </p:spPr>
        <p:txBody>
          <a:bodyPr wrap="square" lIns="0" rIns="0" tIns="0" bIns="0" anchor="t">
            <a:spAutoFit/>
          </a:bodyPr>
          <a:lstStyle/>
          <a:p>
            <a:pPr algn="l">
              <a:lnSpc>
                <a:spcPct val="135000"/>
              </a:lnSpc>
            </a:pPr>
            <a:r>
              <a:rPr sz="1500" b="0" i="0">
                <a:solidFill>
                  <a:srgbClr val="CBD5E1"/>
                </a:solidFill>
                <a:latin typeface="Segoe UI"/>
              </a:rPr>
              <a:t>Empat hal yang paling sering dikerjakan sehari-hari, dijelaskan langkah demi langkah lengkap dengan tampilan layarnya.</a:t>
            </a:r>
          </a:p>
        </p:txBody>
      </p:sp>
      <p:sp>
        <p:nvSpPr>
          <p:cNvPr id="11" name="Rounded Rectangle 10"/>
          <p:cNvSpPr/>
          <p:nvPr/>
        </p:nvSpPr>
        <p:spPr>
          <a:xfrm>
            <a:off x="914400" y="5230368"/>
            <a:ext cx="2926080" cy="868680"/>
          </a:xfrm>
          <a:prstGeom prst="roundRect">
            <a:avLst>
              <a:gd name="adj" fmla="val 3500"/>
            </a:avLst>
          </a:prstGeom>
          <a:solidFill>
            <a:srgbClr val="172033"/>
          </a:solidFill>
          <a:ln w="12700">
            <a:solidFill>
              <a:srgbClr val="2A35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70432" y="5413248"/>
            <a:ext cx="2468880"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Segoe UI"/>
              </a:rPr>
              <a:t>Untuk Atasan</a:t>
            </a:r>
          </a:p>
        </p:txBody>
      </p:sp>
      <p:sp>
        <p:nvSpPr>
          <p:cNvPr id="13" name="TextBox 12"/>
          <p:cNvSpPr txBox="1"/>
          <p:nvPr/>
        </p:nvSpPr>
        <p:spPr>
          <a:xfrm>
            <a:off x="1170432" y="5669280"/>
            <a:ext cx="2514600" cy="365760"/>
          </a:xfrm>
          <a:prstGeom prst="rect">
            <a:avLst/>
          </a:prstGeom>
          <a:noFill/>
        </p:spPr>
        <p:txBody>
          <a:bodyPr wrap="square" lIns="0" rIns="0" tIns="0" bIns="0" anchor="t">
            <a:spAutoFit/>
          </a:bodyPr>
          <a:lstStyle/>
          <a:p>
            <a:pPr algn="l">
              <a:lnSpc>
                <a:spcPct val="115000"/>
              </a:lnSpc>
            </a:pPr>
            <a:r>
              <a:rPr sz="1050" b="0" i="0">
                <a:solidFill>
                  <a:srgbClr val="94A3B8"/>
                </a:solidFill>
                <a:latin typeface="Segoe UI"/>
              </a:rPr>
              <a:t>menyusun jadwal tim · menyetujui cuti</a:t>
            </a:r>
          </a:p>
        </p:txBody>
      </p:sp>
      <p:sp>
        <p:nvSpPr>
          <p:cNvPr id="14" name="Rounded Rectangle 13"/>
          <p:cNvSpPr/>
          <p:nvPr/>
        </p:nvSpPr>
        <p:spPr>
          <a:xfrm>
            <a:off x="4114800" y="5230368"/>
            <a:ext cx="2926080" cy="868680"/>
          </a:xfrm>
          <a:prstGeom prst="roundRect">
            <a:avLst>
              <a:gd name="adj" fmla="val 3500"/>
            </a:avLst>
          </a:prstGeom>
          <a:solidFill>
            <a:srgbClr val="172033"/>
          </a:solidFill>
          <a:ln w="12700">
            <a:solidFill>
              <a:srgbClr val="2A35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70832" y="5413248"/>
            <a:ext cx="2468880"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Segoe UI"/>
              </a:rPr>
              <a:t>Untuk Karyawan</a:t>
            </a:r>
          </a:p>
        </p:txBody>
      </p:sp>
      <p:sp>
        <p:nvSpPr>
          <p:cNvPr id="16" name="TextBox 15"/>
          <p:cNvSpPr txBox="1"/>
          <p:nvPr/>
        </p:nvSpPr>
        <p:spPr>
          <a:xfrm>
            <a:off x="4370832" y="5669280"/>
            <a:ext cx="2514600" cy="365760"/>
          </a:xfrm>
          <a:prstGeom prst="rect">
            <a:avLst/>
          </a:prstGeom>
          <a:noFill/>
        </p:spPr>
        <p:txBody>
          <a:bodyPr wrap="square" lIns="0" rIns="0" tIns="0" bIns="0" anchor="t">
            <a:spAutoFit/>
          </a:bodyPr>
          <a:lstStyle/>
          <a:p>
            <a:pPr algn="l">
              <a:lnSpc>
                <a:spcPct val="115000"/>
              </a:lnSpc>
            </a:pPr>
            <a:r>
              <a:rPr sz="1050" b="0" i="0">
                <a:solidFill>
                  <a:srgbClr val="94A3B8"/>
                </a:solidFill>
                <a:latin typeface="Segoe UI"/>
              </a:rPr>
              <a:t>mengajukan cuti · absen saat WFH</a:t>
            </a:r>
          </a:p>
        </p:txBody>
      </p:sp>
      <p:sp>
        <p:nvSpPr>
          <p:cNvPr id="17" name="TextBox 16"/>
          <p:cNvSpPr txBox="1"/>
          <p:nvPr/>
        </p:nvSpPr>
        <p:spPr>
          <a:xfrm>
            <a:off x="8351215" y="5989320"/>
            <a:ext cx="3200400" cy="274320"/>
          </a:xfrm>
          <a:prstGeom prst="rect">
            <a:avLst/>
          </a:prstGeom>
          <a:noFill/>
        </p:spPr>
        <p:txBody>
          <a:bodyPr wrap="square" lIns="0" rIns="0" tIns="0" bIns="0" anchor="t">
            <a:spAutoFit/>
          </a:bodyPr>
          <a:lstStyle/>
          <a:p>
            <a:pPr algn="r">
              <a:lnSpc>
                <a:spcPct val="115000"/>
              </a:lnSpc>
            </a:pPr>
            <a:r>
              <a:rPr sz="1100" b="0" i="1">
                <a:solidFill>
                  <a:srgbClr val="94A3B8"/>
                </a:solidFill>
                <a:latin typeface="Segoe UI"/>
              </a:rPr>
              <a:t>Bukan panduan untuk tim HRD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0B1220"/>
                </a:solidFill>
                <a:latin typeface="Segoe UI"/>
              </a:rPr>
              <a:t>SEBELUM MULAI</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Panduan ini untuk siapa?</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Dua peran, empat alur kerja. Ambil yang sesuai peran Anda — tidak perlu membaca semuanya.</a:t>
            </a:r>
          </a:p>
        </p:txBody>
      </p:sp>
      <p:sp>
        <p:nvSpPr>
          <p:cNvPr id="7" name="Rounded Rectangle 6"/>
          <p:cNvSpPr/>
          <p:nvPr/>
        </p:nvSpPr>
        <p:spPr>
          <a:xfrm>
            <a:off x="749808" y="1691640"/>
            <a:ext cx="5029200" cy="22860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15568" y="1938528"/>
            <a:ext cx="1234440" cy="27432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Segoe UI"/>
              </a:rPr>
              <a:t>BAGIAN I &amp; III</a:t>
            </a:r>
          </a:p>
        </p:txBody>
      </p:sp>
      <p:sp>
        <p:nvSpPr>
          <p:cNvPr id="9" name="TextBox 8"/>
          <p:cNvSpPr txBox="1"/>
          <p:nvPr/>
        </p:nvSpPr>
        <p:spPr>
          <a:xfrm>
            <a:off x="1115568" y="2377440"/>
            <a:ext cx="4297680" cy="365760"/>
          </a:xfrm>
          <a:prstGeom prst="rect">
            <a:avLst/>
          </a:prstGeom>
          <a:noFill/>
        </p:spPr>
        <p:txBody>
          <a:bodyPr wrap="square" lIns="0" rIns="0" tIns="0" bIns="0" anchor="t">
            <a:spAutoFit/>
          </a:bodyPr>
          <a:lstStyle/>
          <a:p>
            <a:pPr algn="l">
              <a:lnSpc>
                <a:spcPct val="115000"/>
              </a:lnSpc>
            </a:pPr>
            <a:r>
              <a:rPr sz="1900" b="1" i="0">
                <a:solidFill>
                  <a:srgbClr val="0B1220"/>
                </a:solidFill>
                <a:latin typeface="Segoe UI"/>
              </a:rPr>
              <a:t>Atasan / Supervisor</a:t>
            </a:r>
          </a:p>
        </p:txBody>
      </p:sp>
      <p:sp>
        <p:nvSpPr>
          <p:cNvPr id="10" name="Oval 9"/>
          <p:cNvSpPr/>
          <p:nvPr/>
        </p:nvSpPr>
        <p:spPr>
          <a:xfrm>
            <a:off x="1133856" y="2935224"/>
            <a:ext cx="100584" cy="10058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8176" y="2852928"/>
            <a:ext cx="4023360" cy="402336"/>
          </a:xfrm>
          <a:prstGeom prst="rect">
            <a:avLst/>
          </a:prstGeom>
          <a:noFill/>
        </p:spPr>
        <p:txBody>
          <a:bodyPr wrap="square" lIns="0" rIns="0" tIns="0" bIns="0" anchor="t">
            <a:spAutoFit/>
          </a:bodyPr>
          <a:lstStyle/>
          <a:p>
            <a:pPr algn="l">
              <a:lnSpc>
                <a:spcPct val="120000"/>
              </a:lnSpc>
            </a:pPr>
            <a:r>
              <a:rPr sz="1250" b="0" i="0">
                <a:solidFill>
                  <a:srgbClr val="4B5563"/>
                </a:solidFill>
                <a:latin typeface="Segoe UI"/>
              </a:rPr>
              <a:t>Menyusun jadwal kerja tim, termasuk hari WFH</a:t>
            </a:r>
          </a:p>
        </p:txBody>
      </p:sp>
      <p:sp>
        <p:nvSpPr>
          <p:cNvPr id="12" name="Oval 11"/>
          <p:cNvSpPr/>
          <p:nvPr/>
        </p:nvSpPr>
        <p:spPr>
          <a:xfrm>
            <a:off x="1133856" y="3392424"/>
            <a:ext cx="100584" cy="10058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08176" y="3310128"/>
            <a:ext cx="4023360" cy="402336"/>
          </a:xfrm>
          <a:prstGeom prst="rect">
            <a:avLst/>
          </a:prstGeom>
          <a:noFill/>
        </p:spPr>
        <p:txBody>
          <a:bodyPr wrap="square" lIns="0" rIns="0" tIns="0" bIns="0" anchor="t">
            <a:spAutoFit/>
          </a:bodyPr>
          <a:lstStyle/>
          <a:p>
            <a:pPr algn="l">
              <a:lnSpc>
                <a:spcPct val="120000"/>
              </a:lnSpc>
            </a:pPr>
            <a:r>
              <a:rPr sz="1250" b="0" i="0">
                <a:solidFill>
                  <a:srgbClr val="4B5563"/>
                </a:solidFill>
                <a:latin typeface="Segoe UI"/>
              </a:rPr>
              <a:t>Menyetujui atau menolak cuti bawahan</a:t>
            </a:r>
          </a:p>
        </p:txBody>
      </p:sp>
      <p:sp>
        <p:nvSpPr>
          <p:cNvPr id="14" name="Rounded Rectangle 13"/>
          <p:cNvSpPr/>
          <p:nvPr/>
        </p:nvSpPr>
        <p:spPr>
          <a:xfrm>
            <a:off x="6144768" y="1691640"/>
            <a:ext cx="5029200" cy="22860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510528" y="1938528"/>
            <a:ext cx="1234440" cy="274320"/>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Segoe UI"/>
              </a:rPr>
              <a:t>BAGIAN II &amp; IV</a:t>
            </a:r>
          </a:p>
        </p:txBody>
      </p:sp>
      <p:sp>
        <p:nvSpPr>
          <p:cNvPr id="16" name="TextBox 15"/>
          <p:cNvSpPr txBox="1"/>
          <p:nvPr/>
        </p:nvSpPr>
        <p:spPr>
          <a:xfrm>
            <a:off x="6510528" y="2377440"/>
            <a:ext cx="4297680" cy="365760"/>
          </a:xfrm>
          <a:prstGeom prst="rect">
            <a:avLst/>
          </a:prstGeom>
          <a:noFill/>
        </p:spPr>
        <p:txBody>
          <a:bodyPr wrap="square" lIns="0" rIns="0" tIns="0" bIns="0" anchor="t">
            <a:spAutoFit/>
          </a:bodyPr>
          <a:lstStyle/>
          <a:p>
            <a:pPr algn="l">
              <a:lnSpc>
                <a:spcPct val="115000"/>
              </a:lnSpc>
            </a:pPr>
            <a:r>
              <a:rPr sz="1900" b="1" i="0">
                <a:solidFill>
                  <a:srgbClr val="0B1220"/>
                </a:solidFill>
                <a:latin typeface="Segoe UI"/>
              </a:rPr>
              <a:t>Karyawan</a:t>
            </a:r>
          </a:p>
        </p:txBody>
      </p:sp>
      <p:sp>
        <p:nvSpPr>
          <p:cNvPr id="17" name="Oval 16"/>
          <p:cNvSpPr/>
          <p:nvPr/>
        </p:nvSpPr>
        <p:spPr>
          <a:xfrm>
            <a:off x="6528816" y="2935224"/>
            <a:ext cx="100584" cy="100584"/>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03136" y="2852928"/>
            <a:ext cx="4023360" cy="402336"/>
          </a:xfrm>
          <a:prstGeom prst="rect">
            <a:avLst/>
          </a:prstGeom>
          <a:noFill/>
        </p:spPr>
        <p:txBody>
          <a:bodyPr wrap="square" lIns="0" rIns="0" tIns="0" bIns="0" anchor="t">
            <a:spAutoFit/>
          </a:bodyPr>
          <a:lstStyle/>
          <a:p>
            <a:pPr algn="l">
              <a:lnSpc>
                <a:spcPct val="120000"/>
              </a:lnSpc>
            </a:pPr>
            <a:r>
              <a:rPr sz="1250" b="0" i="0">
                <a:solidFill>
                  <a:srgbClr val="4B5563"/>
                </a:solidFill>
                <a:latin typeface="Segoe UI"/>
              </a:rPr>
              <a:t>Mengajukan cuti/izin dan memantau statusnya</a:t>
            </a:r>
          </a:p>
        </p:txBody>
      </p:sp>
      <p:sp>
        <p:nvSpPr>
          <p:cNvPr id="19" name="Oval 18"/>
          <p:cNvSpPr/>
          <p:nvPr/>
        </p:nvSpPr>
        <p:spPr>
          <a:xfrm>
            <a:off x="6528816" y="3392424"/>
            <a:ext cx="100584" cy="100584"/>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03136" y="3310128"/>
            <a:ext cx="4023360" cy="402336"/>
          </a:xfrm>
          <a:prstGeom prst="rect">
            <a:avLst/>
          </a:prstGeom>
          <a:noFill/>
        </p:spPr>
        <p:txBody>
          <a:bodyPr wrap="square" lIns="0" rIns="0" tIns="0" bIns="0" anchor="t">
            <a:spAutoFit/>
          </a:bodyPr>
          <a:lstStyle/>
          <a:p>
            <a:pPr algn="l">
              <a:lnSpc>
                <a:spcPct val="120000"/>
              </a:lnSpc>
            </a:pPr>
            <a:r>
              <a:rPr sz="1250" b="0" i="0">
                <a:solidFill>
                  <a:srgbClr val="4B5563"/>
                </a:solidFill>
                <a:latin typeface="Segoe UI"/>
              </a:rPr>
              <a:t>Absen masuk &amp; pulang saat bekerja dari rumah</a:t>
            </a:r>
          </a:p>
        </p:txBody>
      </p:sp>
      <p:sp>
        <p:nvSpPr>
          <p:cNvPr id="21" name="Rounded Rectangle 20"/>
          <p:cNvSpPr/>
          <p:nvPr/>
        </p:nvSpPr>
        <p:spPr>
          <a:xfrm>
            <a:off x="749808" y="4224528"/>
            <a:ext cx="10424160" cy="141732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15568" y="4462272"/>
            <a:ext cx="9692640"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Yang perlu diingat sejak awal</a:t>
            </a:r>
          </a:p>
        </p:txBody>
      </p:sp>
      <p:sp>
        <p:nvSpPr>
          <p:cNvPr id="23" name="TextBox 22"/>
          <p:cNvSpPr txBox="1"/>
          <p:nvPr/>
        </p:nvSpPr>
        <p:spPr>
          <a:xfrm>
            <a:off x="1115568" y="4828032"/>
            <a:ext cx="9509760" cy="292608"/>
          </a:xfrm>
          <a:prstGeom prst="rect">
            <a:avLst/>
          </a:prstGeom>
          <a:noFill/>
        </p:spPr>
        <p:txBody>
          <a:bodyPr wrap="square" lIns="0" rIns="0" tIns="0" bIns="0">
            <a:spAutoFit/>
          </a:bodyPr>
          <a:lstStyle/>
          <a:p>
            <a:r>
              <a:rPr sz="1200" b="1">
                <a:solidFill>
                  <a:srgbClr val="0B1220"/>
                </a:solidFill>
                <a:latin typeface="Segoe UI"/>
              </a:rPr>
              <a:t>Jadwal menentukan segalanya. </a:t>
            </a:r>
            <a:r>
              <a:rPr sz="1200">
                <a:solidFill>
                  <a:srgbClr val="4B5563"/>
                </a:solidFill>
                <a:latin typeface="Segoe UI"/>
              </a:rPr>
              <a:t>Status absensi, hitungan telat, dan hak cuti semuanya dibaca dari jadwal hari itu.</a:t>
            </a:r>
          </a:p>
        </p:txBody>
      </p:sp>
      <p:sp>
        <p:nvSpPr>
          <p:cNvPr id="24" name="TextBox 23"/>
          <p:cNvSpPr txBox="1"/>
          <p:nvPr/>
        </p:nvSpPr>
        <p:spPr>
          <a:xfrm>
            <a:off x="1115568" y="5157216"/>
            <a:ext cx="9509760" cy="292608"/>
          </a:xfrm>
          <a:prstGeom prst="rect">
            <a:avLst/>
          </a:prstGeom>
          <a:noFill/>
        </p:spPr>
        <p:txBody>
          <a:bodyPr wrap="square" lIns="0" rIns="0" tIns="0" bIns="0">
            <a:spAutoFit/>
          </a:bodyPr>
          <a:lstStyle/>
          <a:p>
            <a:r>
              <a:rPr sz="1200" b="1">
                <a:solidFill>
                  <a:srgbClr val="0B1220"/>
                </a:solidFill>
                <a:latin typeface="Segoe UI"/>
              </a:rPr>
              <a:t>WFH bukan izin terpisah. </a:t>
            </a:r>
            <a:r>
              <a:rPr sz="1200">
                <a:solidFill>
                  <a:srgbClr val="4B5563"/>
                </a:solidFill>
                <a:latin typeface="Segoe UI"/>
              </a:rPr>
              <a:t>WFH adalah cara bekerja pada hari kerja — jam kerjanya tetap dihitung penuh.</a:t>
            </a:r>
          </a:p>
        </p:txBody>
      </p:sp>
      <p:sp>
        <p:nvSpPr>
          <p:cNvPr id="25" name="TextBox 24"/>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Panduan Pengguna HRIS · Jadwal, Cuti &amp; Absensi WFH</a:t>
            </a:r>
          </a:p>
        </p:txBody>
      </p:sp>
      <p:sp>
        <p:nvSpPr>
          <p:cNvPr id="26" name="TextBox 25"/>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0B1220"/>
                </a:solidFill>
                <a:latin typeface="Segoe UI"/>
              </a:rPr>
              <a:t>PETA ALUR</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Bagaimana semuanya saling terhubung</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Satu putaran penuh, dari jadwal disusun sampai absensi tercatat.</a:t>
            </a:r>
          </a:p>
        </p:txBody>
      </p:sp>
      <p:sp>
        <p:nvSpPr>
          <p:cNvPr id="7" name="Rounded Rectangle 6"/>
          <p:cNvSpPr/>
          <p:nvPr/>
        </p:nvSpPr>
        <p:spPr>
          <a:xfrm>
            <a:off x="749808" y="1783080"/>
            <a:ext cx="2372868" cy="914400"/>
          </a:xfrm>
          <a:prstGeom prst="roundRect">
            <a:avLst>
              <a:gd name="adj" fmla="val 16000"/>
            </a:avLst>
          </a:prstGeom>
          <a:solidFill>
            <a:srgbClr val="FFFFFF"/>
          </a:solidFill>
          <a:ln w="15875">
            <a:solidFill>
              <a:srgbClr val="4F46E5"/>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Pola dibuat</a:t>
            </a:r>
          </a:p>
          <a:p>
            <a:pPr algn="ctr"/>
            <a:r>
              <a:rPr sz="950">
                <a:solidFill>
                  <a:srgbClr val="4B5563"/>
                </a:solidFill>
                <a:latin typeface="Segoe UI"/>
              </a:rPr>
              <a:t>atasan menyusun pola mingguan</a:t>
            </a:r>
          </a:p>
        </p:txBody>
      </p:sp>
      <p:sp>
        <p:nvSpPr>
          <p:cNvPr id="8" name="Right Arrow 7"/>
          <p:cNvSpPr/>
          <p:nvPr/>
        </p:nvSpPr>
        <p:spPr>
          <a:xfrm>
            <a:off x="3186684" y="2157984"/>
            <a:ext cx="182880" cy="164592"/>
          </a:xfrm>
          <a:prstGeom prst="rightArrow">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33572" y="1783080"/>
            <a:ext cx="2372868" cy="914400"/>
          </a:xfrm>
          <a:prstGeom prst="roundRect">
            <a:avLst>
              <a:gd name="adj" fmla="val 16000"/>
            </a:avLst>
          </a:prstGeom>
          <a:solidFill>
            <a:srgbClr val="FFFFFF"/>
          </a:solidFill>
          <a:ln w="15875">
            <a:solidFill>
              <a:srgbClr val="4F46E5"/>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Pola ditugaskan</a:t>
            </a:r>
          </a:p>
          <a:p>
            <a:pPr algn="ctr"/>
            <a:r>
              <a:rPr sz="950">
                <a:solidFill>
                  <a:srgbClr val="4B5563"/>
                </a:solidFill>
                <a:latin typeface="Segoe UI"/>
              </a:rPr>
              <a:t>dipasang ke anggota tim</a:t>
            </a:r>
          </a:p>
        </p:txBody>
      </p:sp>
      <p:sp>
        <p:nvSpPr>
          <p:cNvPr id="10" name="Right Arrow 9"/>
          <p:cNvSpPr/>
          <p:nvPr/>
        </p:nvSpPr>
        <p:spPr>
          <a:xfrm>
            <a:off x="5870448" y="2157984"/>
            <a:ext cx="182880" cy="164592"/>
          </a:xfrm>
          <a:prstGeom prst="rightArrow">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17336" y="1783080"/>
            <a:ext cx="2372868" cy="914400"/>
          </a:xfrm>
          <a:prstGeom prst="roundRect">
            <a:avLst>
              <a:gd name="adj" fmla="val 16000"/>
            </a:avLst>
          </a:prstGeom>
          <a:solidFill>
            <a:srgbClr val="FFFFFF"/>
          </a:solidFill>
          <a:ln w="15875">
            <a:solidFill>
              <a:srgbClr val="4F46E5"/>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Roster terbentuk</a:t>
            </a:r>
          </a:p>
          <a:p>
            <a:pPr algn="ctr"/>
            <a:r>
              <a:rPr sz="950">
                <a:solidFill>
                  <a:srgbClr val="4B5563"/>
                </a:solidFill>
                <a:latin typeface="Segoe UI"/>
              </a:rPr>
              <a:t>jadwal harian muncul otomatis</a:t>
            </a:r>
          </a:p>
        </p:txBody>
      </p:sp>
      <p:sp>
        <p:nvSpPr>
          <p:cNvPr id="12" name="Right Arrow 11"/>
          <p:cNvSpPr/>
          <p:nvPr/>
        </p:nvSpPr>
        <p:spPr>
          <a:xfrm>
            <a:off x="8554212" y="2157984"/>
            <a:ext cx="182880" cy="164592"/>
          </a:xfrm>
          <a:prstGeom prst="rightArrow">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801100" y="1783080"/>
            <a:ext cx="2372868" cy="914400"/>
          </a:xfrm>
          <a:prstGeom prst="roundRect">
            <a:avLst>
              <a:gd name="adj" fmla="val 16000"/>
            </a:avLst>
          </a:prstGeom>
          <a:solidFill>
            <a:srgbClr val="FFFFFF"/>
          </a:solidFill>
          <a:ln w="15875">
            <a:solidFill>
              <a:srgbClr val="4F46E5"/>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Karyawan melihat</a:t>
            </a:r>
          </a:p>
          <a:p>
            <a:pPr algn="ctr"/>
            <a:r>
              <a:rPr sz="950">
                <a:solidFill>
                  <a:srgbClr val="4B5563"/>
                </a:solidFill>
                <a:latin typeface="Segoe UI"/>
              </a:rPr>
              <a:t>Jadwal Saya · tahu hari WFH</a:t>
            </a:r>
          </a:p>
        </p:txBody>
      </p:sp>
      <p:sp>
        <p:nvSpPr>
          <p:cNvPr id="14" name="Rounded Rectangle 13"/>
          <p:cNvSpPr/>
          <p:nvPr/>
        </p:nvSpPr>
        <p:spPr>
          <a:xfrm>
            <a:off x="749808" y="3063240"/>
            <a:ext cx="2372868" cy="914400"/>
          </a:xfrm>
          <a:prstGeom prst="roundRect">
            <a:avLst>
              <a:gd name="adj" fmla="val 16000"/>
            </a:avLst>
          </a:prstGeom>
          <a:solidFill>
            <a:srgbClr val="FFFFFF"/>
          </a:solidFill>
          <a:ln w="15875">
            <a:solidFill>
              <a:srgbClr val="059669"/>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Karyawan absen</a:t>
            </a:r>
          </a:p>
          <a:p>
            <a:pPr algn="ctr"/>
            <a:r>
              <a:rPr sz="950">
                <a:solidFill>
                  <a:srgbClr val="4B5563"/>
                </a:solidFill>
                <a:latin typeface="Segoe UI"/>
              </a:rPr>
              <a:t>di kantor atau dari rumah</a:t>
            </a:r>
          </a:p>
        </p:txBody>
      </p:sp>
      <p:sp>
        <p:nvSpPr>
          <p:cNvPr id="15" name="Right Arrow 14"/>
          <p:cNvSpPr/>
          <p:nvPr/>
        </p:nvSpPr>
        <p:spPr>
          <a:xfrm>
            <a:off x="3186684" y="3438144"/>
            <a:ext cx="182880" cy="164592"/>
          </a:xfrm>
          <a:prstGeom prst="rightArrow">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33572" y="3063240"/>
            <a:ext cx="2372868" cy="914400"/>
          </a:xfrm>
          <a:prstGeom prst="roundRect">
            <a:avLst>
              <a:gd name="adj" fmla="val 16000"/>
            </a:avLst>
          </a:prstGeom>
          <a:solidFill>
            <a:srgbClr val="FFFFFF"/>
          </a:solidFill>
          <a:ln w="15875">
            <a:solidFill>
              <a:srgbClr val="059669"/>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Butuh libur?</a:t>
            </a:r>
          </a:p>
          <a:p>
            <a:pPr algn="ctr"/>
            <a:r>
              <a:rPr sz="950">
                <a:solidFill>
                  <a:srgbClr val="4B5563"/>
                </a:solidFill>
                <a:latin typeface="Segoe UI"/>
              </a:rPr>
              <a:t>ajukan cuti/izin</a:t>
            </a:r>
          </a:p>
        </p:txBody>
      </p:sp>
      <p:sp>
        <p:nvSpPr>
          <p:cNvPr id="17" name="Right Arrow 16"/>
          <p:cNvSpPr/>
          <p:nvPr/>
        </p:nvSpPr>
        <p:spPr>
          <a:xfrm>
            <a:off x="5870448" y="3438144"/>
            <a:ext cx="182880" cy="164592"/>
          </a:xfrm>
          <a:prstGeom prst="rightArrow">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17336" y="3063240"/>
            <a:ext cx="2372868" cy="914400"/>
          </a:xfrm>
          <a:prstGeom prst="roundRect">
            <a:avLst>
              <a:gd name="adj" fmla="val 16000"/>
            </a:avLst>
          </a:prstGeom>
          <a:solidFill>
            <a:srgbClr val="FFFFFF"/>
          </a:solidFill>
          <a:ln w="15875">
            <a:solidFill>
              <a:srgbClr val="059669"/>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Atasan menyetujui</a:t>
            </a:r>
          </a:p>
          <a:p>
            <a:pPr algn="ctr"/>
            <a:r>
              <a:rPr sz="950">
                <a:solidFill>
                  <a:srgbClr val="4B5563"/>
                </a:solidFill>
                <a:latin typeface="Segoe UI"/>
              </a:rPr>
              <a:t>muncul di Cuti Saya</a:t>
            </a:r>
          </a:p>
        </p:txBody>
      </p:sp>
      <p:sp>
        <p:nvSpPr>
          <p:cNvPr id="19" name="Right Arrow 18"/>
          <p:cNvSpPr/>
          <p:nvPr/>
        </p:nvSpPr>
        <p:spPr>
          <a:xfrm>
            <a:off x="8554212" y="3438144"/>
            <a:ext cx="182880" cy="164592"/>
          </a:xfrm>
          <a:prstGeom prst="rightArrow">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801100" y="3063240"/>
            <a:ext cx="2372868" cy="914400"/>
          </a:xfrm>
          <a:prstGeom prst="roundRect">
            <a:avLst>
              <a:gd name="adj" fmla="val 16000"/>
            </a:avLst>
          </a:prstGeom>
          <a:solidFill>
            <a:srgbClr val="FFFFFF"/>
          </a:solidFill>
          <a:ln w="15875">
            <a:solidFill>
              <a:srgbClr val="059669"/>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Absensi menyesuaikan</a:t>
            </a:r>
          </a:p>
          <a:p>
            <a:pPr algn="ctr"/>
            <a:r>
              <a:rPr sz="950">
                <a:solidFill>
                  <a:srgbClr val="4B5563"/>
                </a:solidFill>
                <a:latin typeface="Segoe UI"/>
              </a:rPr>
              <a:t>hari cuti tidak dihitung alfa</a:t>
            </a:r>
          </a:p>
        </p:txBody>
      </p:sp>
      <p:sp>
        <p:nvSpPr>
          <p:cNvPr id="21" name="Rounded Rectangle 20"/>
          <p:cNvSpPr/>
          <p:nvPr/>
        </p:nvSpPr>
        <p:spPr>
          <a:xfrm>
            <a:off x="749808" y="4370832"/>
            <a:ext cx="10424160" cy="1298448"/>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15568" y="4590288"/>
            <a:ext cx="9692640" cy="256032"/>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Mengapa urutannya penting</a:t>
            </a:r>
          </a:p>
        </p:txBody>
      </p:sp>
      <p:sp>
        <p:nvSpPr>
          <p:cNvPr id="23" name="TextBox 22"/>
          <p:cNvSpPr txBox="1"/>
          <p:nvPr/>
        </p:nvSpPr>
        <p:spPr>
          <a:xfrm>
            <a:off x="1115568" y="4919472"/>
            <a:ext cx="9692640" cy="640080"/>
          </a:xfrm>
          <a:prstGeom prst="rect">
            <a:avLst/>
          </a:prstGeom>
          <a:noFill/>
        </p:spPr>
        <p:txBody>
          <a:bodyPr wrap="square" lIns="0" rIns="0" tIns="0" bIns="0" anchor="t">
            <a:spAutoFit/>
          </a:bodyPr>
          <a:lstStyle/>
          <a:p>
            <a:pPr algn="l">
              <a:lnSpc>
                <a:spcPct val="130000"/>
              </a:lnSpc>
            </a:pPr>
            <a:r>
              <a:rPr sz="1200" b="0" i="0">
                <a:solidFill>
                  <a:srgbClr val="4B5563"/>
                </a:solidFill>
                <a:latin typeface="Segoe UI"/>
              </a:rPr>
              <a:t>Absensi selalu dibandingkan dengan jadwal hari itu. Karyawan yang belum punya jadwal akan tercatat tanpa shift, dan cuti yang belum disetujui tidak menghapus kewajiban absen. Karena itu jadwal disusun lebih dulu, baru cuti, baru absensi.</a:t>
            </a:r>
          </a:p>
        </p:txBody>
      </p:sp>
      <p:sp>
        <p:nvSpPr>
          <p:cNvPr id="24" name="TextBox 23"/>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Panduan Pengguna HRIS · Jadwal, Cuti &amp; Absensi WFH</a:t>
            </a:r>
          </a:p>
        </p:txBody>
      </p:sp>
      <p:sp>
        <p:nvSpPr>
          <p:cNvPr id="25" name="TextBox 24"/>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48840"/>
            <a:ext cx="5486400" cy="274320"/>
          </a:xfrm>
          <a:prstGeom prst="rect">
            <a:avLst/>
          </a:prstGeom>
          <a:noFill/>
        </p:spPr>
        <p:txBody>
          <a:bodyPr wrap="square" lIns="0" rIns="0" tIns="0" bIns="0" anchor="t">
            <a:spAutoFit/>
          </a:bodyPr>
          <a:lstStyle/>
          <a:p>
            <a:pPr algn="l">
              <a:lnSpc>
                <a:spcPct val="115000"/>
              </a:lnSpc>
            </a:pPr>
            <a:r>
              <a:rPr sz="1150" b="1" i="0">
                <a:solidFill>
                  <a:srgbClr val="4F46E5"/>
                </a:solidFill>
                <a:latin typeface="Segoe UI"/>
              </a:rPr>
              <a:t>BAGIAN I · UNTUK ATASAN</a:t>
            </a:r>
          </a:p>
        </p:txBody>
      </p:sp>
      <p:sp>
        <p:nvSpPr>
          <p:cNvPr id="6" name="TextBox 5"/>
          <p:cNvSpPr txBox="1"/>
          <p:nvPr/>
        </p:nvSpPr>
        <p:spPr>
          <a:xfrm>
            <a:off x="1005840" y="2487168"/>
            <a:ext cx="6400800" cy="822960"/>
          </a:xfrm>
          <a:prstGeom prst="rect">
            <a:avLst/>
          </a:prstGeom>
          <a:noFill/>
        </p:spPr>
        <p:txBody>
          <a:bodyPr wrap="square" lIns="0" rIns="0" tIns="0" bIns="0" anchor="t">
            <a:spAutoFit/>
          </a:bodyPr>
          <a:lstStyle/>
          <a:p>
            <a:pPr algn="l">
              <a:lnSpc>
                <a:spcPct val="115000"/>
              </a:lnSpc>
            </a:pPr>
            <a:r>
              <a:rPr sz="4000" b="1" i="0">
                <a:solidFill>
                  <a:srgbClr val="FFFFFF"/>
                </a:solidFill>
                <a:latin typeface="Segoe UI"/>
              </a:rPr>
              <a:t>Menyusun Jadwal</a:t>
            </a:r>
          </a:p>
        </p:txBody>
      </p:sp>
      <p:sp>
        <p:nvSpPr>
          <p:cNvPr id="7" name="TextBox 6"/>
          <p:cNvSpPr txBox="1"/>
          <p:nvPr/>
        </p:nvSpPr>
        <p:spPr>
          <a:xfrm>
            <a:off x="1005840" y="3611880"/>
            <a:ext cx="5760720" cy="914400"/>
          </a:xfrm>
          <a:prstGeom prst="rect">
            <a:avLst/>
          </a:prstGeom>
          <a:noFill/>
        </p:spPr>
        <p:txBody>
          <a:bodyPr wrap="square" lIns="0" rIns="0" tIns="0" bIns="0" anchor="t">
            <a:spAutoFit/>
          </a:bodyPr>
          <a:lstStyle/>
          <a:p>
            <a:pPr algn="l">
              <a:lnSpc>
                <a:spcPct val="135000"/>
              </a:lnSpc>
            </a:pPr>
            <a:r>
              <a:rPr sz="1400" b="0" i="0">
                <a:solidFill>
                  <a:srgbClr val="CBD5E1"/>
                </a:solidFill>
                <a:latin typeface="Segoe UI"/>
              </a:rPr>
              <a:t>Jadwal disusun sekali sebagai pola, lalu berjalan sendiri setiap pekan. Hari WFH cukup dicentang di polanya.</a:t>
            </a:r>
          </a:p>
        </p:txBody>
      </p:sp>
      <p:sp>
        <p:nvSpPr>
          <p:cNvPr id="8" name="Oval 7"/>
          <p:cNvSpPr/>
          <p:nvPr/>
        </p:nvSpPr>
        <p:spPr>
          <a:xfrm>
            <a:off x="7772400" y="2569464"/>
            <a:ext cx="128016" cy="12801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514600"/>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Membuat pola mingguan</a:t>
            </a:r>
          </a:p>
        </p:txBody>
      </p:sp>
      <p:sp>
        <p:nvSpPr>
          <p:cNvPr id="10" name="Oval 9"/>
          <p:cNvSpPr/>
          <p:nvPr/>
        </p:nvSpPr>
        <p:spPr>
          <a:xfrm>
            <a:off x="7772400" y="3136392"/>
            <a:ext cx="128016" cy="12801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081528"/>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Menandai hari WFH</a:t>
            </a:r>
          </a:p>
        </p:txBody>
      </p:sp>
      <p:sp>
        <p:nvSpPr>
          <p:cNvPr id="12" name="Oval 11"/>
          <p:cNvSpPr/>
          <p:nvPr/>
        </p:nvSpPr>
        <p:spPr>
          <a:xfrm>
            <a:off x="7772400" y="3703320"/>
            <a:ext cx="128016" cy="12801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648456"/>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Menugaskan pola ke tim</a:t>
            </a:r>
          </a:p>
        </p:txBody>
      </p:sp>
      <p:sp>
        <p:nvSpPr>
          <p:cNvPr id="14" name="Oval 13"/>
          <p:cNvSpPr/>
          <p:nvPr/>
        </p:nvSpPr>
        <p:spPr>
          <a:xfrm>
            <a:off x="7772400" y="4270248"/>
            <a:ext cx="128016" cy="12801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215384"/>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Mengubah satu hari saja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4F46E5"/>
                </a:solidFill>
                <a:latin typeface="Segoe UI"/>
              </a:rPr>
              <a:t>BAGIAN I · LANGKAH 1</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Membuat pola jadwal mingguan</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Pola adalah cetakan jadwal: sekali dibuat, dipakai berulang setiap pekan.</a:t>
            </a:r>
          </a:p>
        </p:txBody>
      </p:sp>
      <p:sp>
        <p:nvSpPr>
          <p:cNvPr id="7" name="Oval 6"/>
          <p:cNvSpPr/>
          <p:nvPr/>
        </p:nvSpPr>
        <p:spPr>
          <a:xfrm>
            <a:off x="749808" y="1783080"/>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1</a:t>
            </a:r>
          </a:p>
        </p:txBody>
      </p:sp>
      <p:sp>
        <p:nvSpPr>
          <p:cNvPr id="8" name="TextBox 7"/>
          <p:cNvSpPr txBox="1"/>
          <p:nvPr/>
        </p:nvSpPr>
        <p:spPr>
          <a:xfrm>
            <a:off x="1225296" y="1764792"/>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Buka Penjadwalan › Pola Jadwal</a:t>
            </a:r>
          </a:p>
        </p:txBody>
      </p:sp>
      <p:sp>
        <p:nvSpPr>
          <p:cNvPr id="9" name="TextBox 8"/>
          <p:cNvSpPr txBox="1"/>
          <p:nvPr/>
        </p:nvSpPr>
        <p:spPr>
          <a:xfrm>
            <a:off x="1225296" y="2020824"/>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Klik Tambah Pola, lalu isi kode dan nama yang mudah dikenali.</a:t>
            </a:r>
          </a:p>
        </p:txBody>
      </p:sp>
      <p:sp>
        <p:nvSpPr>
          <p:cNvPr id="10" name="Oval 9"/>
          <p:cNvSpPr/>
          <p:nvPr/>
        </p:nvSpPr>
        <p:spPr>
          <a:xfrm>
            <a:off x="749808" y="2624328"/>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2</a:t>
            </a:r>
          </a:p>
        </p:txBody>
      </p:sp>
      <p:sp>
        <p:nvSpPr>
          <p:cNvPr id="11" name="TextBox 10"/>
          <p:cNvSpPr txBox="1"/>
          <p:nvPr/>
        </p:nvSpPr>
        <p:spPr>
          <a:xfrm>
            <a:off x="1225296" y="2606040"/>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Pilih shift untuk tiap hari</a:t>
            </a:r>
          </a:p>
        </p:txBody>
      </p:sp>
      <p:sp>
        <p:nvSpPr>
          <p:cNvPr id="12" name="TextBox 11"/>
          <p:cNvSpPr txBox="1"/>
          <p:nvPr/>
        </p:nvSpPr>
        <p:spPr>
          <a:xfrm>
            <a:off x="1225296" y="2862072"/>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Kosongkan (Libur) untuk hari yang tidak bekerja.</a:t>
            </a:r>
          </a:p>
        </p:txBody>
      </p:sp>
      <p:sp>
        <p:nvSpPr>
          <p:cNvPr id="13" name="Oval 12"/>
          <p:cNvSpPr/>
          <p:nvPr/>
        </p:nvSpPr>
        <p:spPr>
          <a:xfrm>
            <a:off x="749808" y="3465576"/>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3</a:t>
            </a:r>
          </a:p>
        </p:txBody>
      </p:sp>
      <p:sp>
        <p:nvSpPr>
          <p:cNvPr id="14" name="TextBox 13"/>
          <p:cNvSpPr txBox="1"/>
          <p:nvPr/>
        </p:nvSpPr>
        <p:spPr>
          <a:xfrm>
            <a:off x="1225296" y="3447288"/>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Centang WFH bila perlu</a:t>
            </a:r>
          </a:p>
        </p:txBody>
      </p:sp>
      <p:sp>
        <p:nvSpPr>
          <p:cNvPr id="15" name="TextBox 14"/>
          <p:cNvSpPr txBox="1"/>
          <p:nvPr/>
        </p:nvSpPr>
        <p:spPr>
          <a:xfrm>
            <a:off x="1225296" y="3703320"/>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Hanya berlaku pada hari yang ada shift-nya — WFH tetap hari kerja.</a:t>
            </a:r>
          </a:p>
        </p:txBody>
      </p:sp>
      <p:sp>
        <p:nvSpPr>
          <p:cNvPr id="16" name="Oval 15"/>
          <p:cNvSpPr/>
          <p:nvPr/>
        </p:nvSpPr>
        <p:spPr>
          <a:xfrm>
            <a:off x="749808" y="4306824"/>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4</a:t>
            </a:r>
          </a:p>
        </p:txBody>
      </p:sp>
      <p:sp>
        <p:nvSpPr>
          <p:cNvPr id="17" name="TextBox 16"/>
          <p:cNvSpPr txBox="1"/>
          <p:nvPr/>
        </p:nvSpPr>
        <p:spPr>
          <a:xfrm>
            <a:off x="1225296" y="4288536"/>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Simpan</a:t>
            </a:r>
          </a:p>
        </p:txBody>
      </p:sp>
      <p:sp>
        <p:nvSpPr>
          <p:cNvPr id="18" name="TextBox 17"/>
          <p:cNvSpPr txBox="1"/>
          <p:nvPr/>
        </p:nvSpPr>
        <p:spPr>
          <a:xfrm>
            <a:off x="1225296" y="4544568"/>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Pola siap dipakai, belum berpengaruh sebelum ditugaskan.</a:t>
            </a:r>
          </a:p>
        </p:txBody>
      </p:sp>
      <p:sp>
        <p:nvSpPr>
          <p:cNvPr id="19" name="Rounded Rectangle 18"/>
          <p:cNvSpPr/>
          <p:nvPr/>
        </p:nvSpPr>
        <p:spPr>
          <a:xfrm>
            <a:off x="4658868" y="1732788"/>
            <a:ext cx="6821424" cy="4584677"/>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1-pola-wfh.png"/>
          <p:cNvPicPr>
            <a:picLocks noChangeAspect="1"/>
          </p:cNvPicPr>
          <p:nvPr/>
        </p:nvPicPr>
        <p:blipFill>
          <a:blip r:embed="rId2"/>
          <a:srcRect l="15467" b="6000"/>
          <a:stretch>
            <a:fillRect/>
          </a:stretch>
        </p:blipFill>
        <p:spPr>
          <a:xfrm>
            <a:off x="4709160" y="1783080"/>
            <a:ext cx="6720840" cy="4484093"/>
          </a:xfrm>
          <a:prstGeom prst="rect">
            <a:avLst/>
          </a:prstGeom>
        </p:spPr>
      </p:pic>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 · Menyusun Jadwal</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4F46E5"/>
                </a:solidFill>
                <a:latin typeface="Segoe UI"/>
              </a:rPr>
              <a:t>BAGIAN I · LANGKAH 2</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Menugaskan pola ke anggota tim</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Pola baru berdampak setelah dipasangkan ke orang dan periode.</a:t>
            </a:r>
          </a:p>
        </p:txBody>
      </p:sp>
      <p:sp>
        <p:nvSpPr>
          <p:cNvPr id="7" name="Oval 6"/>
          <p:cNvSpPr/>
          <p:nvPr/>
        </p:nvSpPr>
        <p:spPr>
          <a:xfrm>
            <a:off x="749808" y="1783080"/>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1</a:t>
            </a:r>
          </a:p>
        </p:txBody>
      </p:sp>
      <p:sp>
        <p:nvSpPr>
          <p:cNvPr id="8" name="TextBox 7"/>
          <p:cNvSpPr txBox="1"/>
          <p:nvPr/>
        </p:nvSpPr>
        <p:spPr>
          <a:xfrm>
            <a:off x="1225296" y="1764792"/>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Buka Jadwal Kerja › Tugaskan Pola</a:t>
            </a:r>
          </a:p>
        </p:txBody>
      </p:sp>
      <p:sp>
        <p:nvSpPr>
          <p:cNvPr id="9" name="TextBox 8"/>
          <p:cNvSpPr txBox="1"/>
          <p:nvPr/>
        </p:nvSpPr>
        <p:spPr>
          <a:xfrm>
            <a:off x="1225296" y="2020824"/>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Bisa juga dari daftar Pola Jadwal.</a:t>
            </a:r>
          </a:p>
        </p:txBody>
      </p:sp>
      <p:sp>
        <p:nvSpPr>
          <p:cNvPr id="10" name="Oval 9"/>
          <p:cNvSpPr/>
          <p:nvPr/>
        </p:nvSpPr>
        <p:spPr>
          <a:xfrm>
            <a:off x="749808" y="2624328"/>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2</a:t>
            </a:r>
          </a:p>
        </p:txBody>
      </p:sp>
      <p:sp>
        <p:nvSpPr>
          <p:cNvPr id="11" name="TextBox 10"/>
          <p:cNvSpPr txBox="1"/>
          <p:nvPr/>
        </p:nvSpPr>
        <p:spPr>
          <a:xfrm>
            <a:off x="1225296" y="2606040"/>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Pilih karyawan</a:t>
            </a:r>
          </a:p>
        </p:txBody>
      </p:sp>
      <p:sp>
        <p:nvSpPr>
          <p:cNvPr id="12" name="TextBox 11"/>
          <p:cNvSpPr txBox="1"/>
          <p:nvPr/>
        </p:nvSpPr>
        <p:spPr>
          <a:xfrm>
            <a:off x="1225296" y="2862072"/>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Boleh beberapa orang sekaligus dalam satu penugasan.</a:t>
            </a:r>
          </a:p>
        </p:txBody>
      </p:sp>
      <p:sp>
        <p:nvSpPr>
          <p:cNvPr id="13" name="Oval 12"/>
          <p:cNvSpPr/>
          <p:nvPr/>
        </p:nvSpPr>
        <p:spPr>
          <a:xfrm>
            <a:off x="749808" y="3465576"/>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3</a:t>
            </a:r>
          </a:p>
        </p:txBody>
      </p:sp>
      <p:sp>
        <p:nvSpPr>
          <p:cNvPr id="14" name="TextBox 13"/>
          <p:cNvSpPr txBox="1"/>
          <p:nvPr/>
        </p:nvSpPr>
        <p:spPr>
          <a:xfrm>
            <a:off x="1225296" y="3447288"/>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Tentukan periode</a:t>
            </a:r>
          </a:p>
        </p:txBody>
      </p:sp>
      <p:sp>
        <p:nvSpPr>
          <p:cNvPr id="15" name="TextBox 14"/>
          <p:cNvSpPr txBox="1"/>
          <p:nvPr/>
        </p:nvSpPr>
        <p:spPr>
          <a:xfrm>
            <a:off x="1225296" y="3703320"/>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Kosongkan tanggal selesai bila berlaku terus-menerus.</a:t>
            </a:r>
          </a:p>
        </p:txBody>
      </p:sp>
      <p:sp>
        <p:nvSpPr>
          <p:cNvPr id="16" name="Oval 15"/>
          <p:cNvSpPr/>
          <p:nvPr/>
        </p:nvSpPr>
        <p:spPr>
          <a:xfrm>
            <a:off x="749808" y="4306824"/>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4</a:t>
            </a:r>
          </a:p>
        </p:txBody>
      </p:sp>
      <p:sp>
        <p:nvSpPr>
          <p:cNvPr id="17" name="TextBox 16"/>
          <p:cNvSpPr txBox="1"/>
          <p:nvPr/>
        </p:nvSpPr>
        <p:spPr>
          <a:xfrm>
            <a:off x="1225296" y="4288536"/>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Simpan</a:t>
            </a:r>
          </a:p>
        </p:txBody>
      </p:sp>
      <p:sp>
        <p:nvSpPr>
          <p:cNvPr id="18" name="TextBox 17"/>
          <p:cNvSpPr txBox="1"/>
          <p:nvPr/>
        </p:nvSpPr>
        <p:spPr>
          <a:xfrm>
            <a:off x="1225296" y="4544568"/>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Jadwal harian langsung terbentuk untuk periode tersebut.</a:t>
            </a:r>
          </a:p>
        </p:txBody>
      </p:sp>
      <p:sp>
        <p:nvSpPr>
          <p:cNvPr id="19" name="Rounded Rectangle 18"/>
          <p:cNvSpPr/>
          <p:nvPr/>
        </p:nvSpPr>
        <p:spPr>
          <a:xfrm>
            <a:off x="4658868" y="1732788"/>
            <a:ext cx="6821424" cy="4441568"/>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2-tugaskan-pola.png"/>
          <p:cNvPicPr>
            <a:picLocks noChangeAspect="1"/>
          </p:cNvPicPr>
          <p:nvPr/>
        </p:nvPicPr>
        <p:blipFill>
          <a:blip r:embed="rId2"/>
          <a:srcRect l="15467" b="22000"/>
          <a:stretch>
            <a:fillRect/>
          </a:stretch>
        </p:blipFill>
        <p:spPr>
          <a:xfrm>
            <a:off x="4709160" y="1783080"/>
            <a:ext cx="6720840" cy="4340984"/>
          </a:xfrm>
          <a:prstGeom prst="rect">
            <a:avLst/>
          </a:prstGeom>
        </p:spPr>
      </p:pic>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 · Menyusun Jadwal</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4F46E5"/>
                </a:solidFill>
                <a:latin typeface="Segoe UI"/>
              </a:rPr>
              <a:t>BAGIAN I · HASILNYA</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Membaca roster bulanan</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Satu layar untuk seluruh tim sebulan penuh. Rumah kecil menandai hari WFH.</a:t>
            </a:r>
          </a:p>
        </p:txBody>
      </p:sp>
      <p:sp>
        <p:nvSpPr>
          <p:cNvPr id="7" name="Rounded Rectangle 6"/>
          <p:cNvSpPr/>
          <p:nvPr/>
        </p:nvSpPr>
        <p:spPr>
          <a:xfrm>
            <a:off x="699516" y="1705356"/>
            <a:ext cx="7050024" cy="4480704"/>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roster.png"/>
          <p:cNvPicPr>
            <a:picLocks noChangeAspect="1"/>
          </p:cNvPicPr>
          <p:nvPr/>
        </p:nvPicPr>
        <p:blipFill>
          <a:blip r:embed="rId2"/>
          <a:srcRect l="15467" b="26000"/>
          <a:stretch>
            <a:fillRect/>
          </a:stretch>
        </p:blipFill>
        <p:spPr>
          <a:xfrm>
            <a:off x="749808" y="1755648"/>
            <a:ext cx="6949440" cy="4380120"/>
          </a:xfrm>
          <a:prstGeom prst="rect">
            <a:avLst/>
          </a:prstGeom>
        </p:spPr>
      </p:pic>
      <p:sp>
        <p:nvSpPr>
          <p:cNvPr id="9" name="Rounded Rectangle 8"/>
          <p:cNvSpPr/>
          <p:nvPr/>
        </p:nvSpPr>
        <p:spPr>
          <a:xfrm>
            <a:off x="7973568" y="1755648"/>
            <a:ext cx="3200400" cy="283464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66175" y="1975104"/>
            <a:ext cx="2560320" cy="256032"/>
          </a:xfrm>
          <a:prstGeom prst="rect">
            <a:avLst/>
          </a:prstGeom>
          <a:noFill/>
        </p:spPr>
        <p:txBody>
          <a:bodyPr wrap="square" lIns="0" rIns="0" tIns="0" bIns="0" anchor="t">
            <a:spAutoFit/>
          </a:bodyPr>
          <a:lstStyle/>
          <a:p>
            <a:pPr algn="l">
              <a:lnSpc>
                <a:spcPct val="115000"/>
              </a:lnSpc>
            </a:pPr>
            <a:r>
              <a:rPr sz="1300" b="1" i="0">
                <a:solidFill>
                  <a:srgbClr val="0B1220"/>
                </a:solidFill>
                <a:latin typeface="Segoe UI"/>
              </a:rPr>
              <a:t>Arti tandanya</a:t>
            </a:r>
          </a:p>
        </p:txBody>
      </p:sp>
      <p:sp>
        <p:nvSpPr>
          <p:cNvPr id="11" name="Rounded Rectangle 10"/>
          <p:cNvSpPr/>
          <p:nvPr/>
        </p:nvSpPr>
        <p:spPr>
          <a:xfrm>
            <a:off x="8266175" y="2395728"/>
            <a:ext cx="713232" cy="237744"/>
          </a:xfrm>
          <a:prstGeom prst="roundRect">
            <a:avLst>
              <a:gd name="adj" fmla="val 25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0B1220"/>
                </a:solidFill>
                <a:latin typeface="Segoe UI"/>
              </a:rPr>
              <a:t>REG</a:t>
            </a:r>
          </a:p>
        </p:txBody>
      </p:sp>
      <p:sp>
        <p:nvSpPr>
          <p:cNvPr id="12" name="TextBox 11"/>
          <p:cNvSpPr txBox="1"/>
          <p:nvPr/>
        </p:nvSpPr>
        <p:spPr>
          <a:xfrm>
            <a:off x="9125712" y="2377440"/>
            <a:ext cx="1920240" cy="457200"/>
          </a:xfrm>
          <a:prstGeom prst="rect">
            <a:avLst/>
          </a:prstGeom>
          <a:noFill/>
        </p:spPr>
        <p:txBody>
          <a:bodyPr wrap="square" lIns="0" rIns="0" tIns="0" bIns="0" anchor="t">
            <a:spAutoFit/>
          </a:bodyPr>
          <a:lstStyle/>
          <a:p>
            <a:pPr algn="l">
              <a:lnSpc>
                <a:spcPct val="120000"/>
              </a:lnSpc>
            </a:pPr>
            <a:r>
              <a:rPr sz="1050" b="0" i="0">
                <a:solidFill>
                  <a:srgbClr val="4B5563"/>
                </a:solidFill>
                <a:latin typeface="Segoe UI"/>
              </a:rPr>
              <a:t>Masuk kantor pada shift itu</a:t>
            </a:r>
          </a:p>
        </p:txBody>
      </p:sp>
      <p:sp>
        <p:nvSpPr>
          <p:cNvPr id="13" name="Rounded Rectangle 12"/>
          <p:cNvSpPr/>
          <p:nvPr/>
        </p:nvSpPr>
        <p:spPr>
          <a:xfrm>
            <a:off x="8266175" y="2907792"/>
            <a:ext cx="713232" cy="237744"/>
          </a:xfrm>
          <a:prstGeom prst="roundRect">
            <a:avLst>
              <a:gd name="adj" fmla="val 25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4F46E5"/>
                </a:solidFill>
                <a:latin typeface="Segoe UI"/>
              </a:rPr>
              <a:t>Rumah</a:t>
            </a:r>
          </a:p>
        </p:txBody>
      </p:sp>
      <p:sp>
        <p:nvSpPr>
          <p:cNvPr id="14" name="TextBox 13"/>
          <p:cNvSpPr txBox="1"/>
          <p:nvPr/>
        </p:nvSpPr>
        <p:spPr>
          <a:xfrm>
            <a:off x="9125712" y="2889504"/>
            <a:ext cx="1920240" cy="457200"/>
          </a:xfrm>
          <a:prstGeom prst="rect">
            <a:avLst/>
          </a:prstGeom>
          <a:noFill/>
        </p:spPr>
        <p:txBody>
          <a:bodyPr wrap="square" lIns="0" rIns="0" tIns="0" bIns="0" anchor="t">
            <a:spAutoFit/>
          </a:bodyPr>
          <a:lstStyle/>
          <a:p>
            <a:pPr algn="l">
              <a:lnSpc>
                <a:spcPct val="120000"/>
              </a:lnSpc>
            </a:pPr>
            <a:r>
              <a:rPr sz="1050" b="0" i="0">
                <a:solidFill>
                  <a:srgbClr val="4B5563"/>
                </a:solidFill>
                <a:latin typeface="Segoe UI"/>
              </a:rPr>
              <a:t>Hari WFH — tetap bekerja</a:t>
            </a:r>
          </a:p>
        </p:txBody>
      </p:sp>
      <p:sp>
        <p:nvSpPr>
          <p:cNvPr id="15" name="Rounded Rectangle 14"/>
          <p:cNvSpPr/>
          <p:nvPr/>
        </p:nvSpPr>
        <p:spPr>
          <a:xfrm>
            <a:off x="8266175" y="3419856"/>
            <a:ext cx="713232" cy="237744"/>
          </a:xfrm>
          <a:prstGeom prst="roundRect">
            <a:avLst>
              <a:gd name="adj" fmla="val 25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D97706"/>
                </a:solidFill>
                <a:latin typeface="Segoe UI"/>
              </a:rPr>
              <a:t>SK / kode</a:t>
            </a:r>
          </a:p>
        </p:txBody>
      </p:sp>
      <p:sp>
        <p:nvSpPr>
          <p:cNvPr id="16" name="TextBox 15"/>
          <p:cNvSpPr txBox="1"/>
          <p:nvPr/>
        </p:nvSpPr>
        <p:spPr>
          <a:xfrm>
            <a:off x="9125712" y="3401568"/>
            <a:ext cx="1920240" cy="457200"/>
          </a:xfrm>
          <a:prstGeom prst="rect">
            <a:avLst/>
          </a:prstGeom>
          <a:noFill/>
        </p:spPr>
        <p:txBody>
          <a:bodyPr wrap="square" lIns="0" rIns="0" tIns="0" bIns="0" anchor="t">
            <a:spAutoFit/>
          </a:bodyPr>
          <a:lstStyle/>
          <a:p>
            <a:pPr algn="l">
              <a:lnSpc>
                <a:spcPct val="120000"/>
              </a:lnSpc>
            </a:pPr>
            <a:r>
              <a:rPr sz="1050" b="0" i="0">
                <a:solidFill>
                  <a:srgbClr val="4B5563"/>
                </a:solidFill>
                <a:latin typeface="Segoe UI"/>
              </a:rPr>
              <a:t>Cuti atau izin disetujui</a:t>
            </a:r>
          </a:p>
        </p:txBody>
      </p:sp>
      <p:sp>
        <p:nvSpPr>
          <p:cNvPr id="17" name="Rounded Rectangle 16"/>
          <p:cNvSpPr/>
          <p:nvPr/>
        </p:nvSpPr>
        <p:spPr>
          <a:xfrm>
            <a:off x="8266175" y="3931920"/>
            <a:ext cx="713232" cy="237744"/>
          </a:xfrm>
          <a:prstGeom prst="roundRect">
            <a:avLst>
              <a:gd name="adj" fmla="val 25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94A3B8"/>
                </a:solidFill>
                <a:latin typeface="Segoe UI"/>
              </a:rPr>
              <a:t>—</a:t>
            </a:r>
          </a:p>
        </p:txBody>
      </p:sp>
      <p:sp>
        <p:nvSpPr>
          <p:cNvPr id="18" name="TextBox 17"/>
          <p:cNvSpPr txBox="1"/>
          <p:nvPr/>
        </p:nvSpPr>
        <p:spPr>
          <a:xfrm>
            <a:off x="9125712" y="3913632"/>
            <a:ext cx="1920240" cy="457200"/>
          </a:xfrm>
          <a:prstGeom prst="rect">
            <a:avLst/>
          </a:prstGeom>
          <a:noFill/>
        </p:spPr>
        <p:txBody>
          <a:bodyPr wrap="square" lIns="0" rIns="0" tIns="0" bIns="0" anchor="t">
            <a:spAutoFit/>
          </a:bodyPr>
          <a:lstStyle/>
          <a:p>
            <a:pPr algn="l">
              <a:lnSpc>
                <a:spcPct val="120000"/>
              </a:lnSpc>
            </a:pPr>
            <a:r>
              <a:rPr sz="1050" b="0" i="0">
                <a:solidFill>
                  <a:srgbClr val="4B5563"/>
                </a:solidFill>
                <a:latin typeface="Segoe UI"/>
              </a:rPr>
              <a:t>Hari libur</a:t>
            </a:r>
          </a:p>
        </p:txBody>
      </p:sp>
      <p:sp>
        <p:nvSpPr>
          <p:cNvPr id="19" name="Rounded Rectangle 18"/>
          <p:cNvSpPr/>
          <p:nvPr/>
        </p:nvSpPr>
        <p:spPr>
          <a:xfrm>
            <a:off x="7973568" y="4754880"/>
            <a:ext cx="3200400" cy="914400"/>
          </a:xfrm>
          <a:prstGeom prst="roundRect">
            <a:avLst>
              <a:gd name="adj" fmla="val 3500"/>
            </a:avLst>
          </a:prstGeom>
          <a:solidFill>
            <a:srgbClr val="EEEFFE"/>
          </a:solidFill>
          <a:ln>
            <a:no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66175" y="4956048"/>
            <a:ext cx="2651760" cy="548640"/>
          </a:xfrm>
          <a:prstGeom prst="rect">
            <a:avLst/>
          </a:prstGeom>
          <a:noFill/>
        </p:spPr>
        <p:txBody>
          <a:bodyPr wrap="square" lIns="0" rIns="0" tIns="0" bIns="0" anchor="t">
            <a:spAutoFit/>
          </a:bodyPr>
          <a:lstStyle/>
          <a:p>
            <a:pPr algn="l">
              <a:lnSpc>
                <a:spcPct val="125000"/>
              </a:lnSpc>
            </a:pPr>
            <a:r>
              <a:rPr sz="1100" b="0" i="0">
                <a:solidFill>
                  <a:srgbClr val="0B1220"/>
                </a:solidFill>
                <a:latin typeface="Segoe UI"/>
              </a:rPr>
              <a:t>Klik satu sel untuk mengubah hari itu saja — tanpa mengganggu polanya.</a:t>
            </a:r>
          </a:p>
        </p:txBody>
      </p:sp>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 · Menyusun Jadwal</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4F46E5"/>
                </a:solidFill>
                <a:latin typeface="Segoe UI"/>
              </a:rPr>
              <a:t>BAGIAN I · LANGKAH 4</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WFH untuk satu hari saja</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Untuk kebutuhan mendadak, ubah satu sel — polanya tidak perlu diutak-atik.</a:t>
            </a:r>
          </a:p>
        </p:txBody>
      </p:sp>
      <p:sp>
        <p:nvSpPr>
          <p:cNvPr id="7" name="Oval 6"/>
          <p:cNvSpPr/>
          <p:nvPr/>
        </p:nvSpPr>
        <p:spPr>
          <a:xfrm>
            <a:off x="749808" y="1783080"/>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1</a:t>
            </a:r>
          </a:p>
        </p:txBody>
      </p:sp>
      <p:sp>
        <p:nvSpPr>
          <p:cNvPr id="8" name="TextBox 7"/>
          <p:cNvSpPr txBox="1"/>
          <p:nvPr/>
        </p:nvSpPr>
        <p:spPr>
          <a:xfrm>
            <a:off x="1225296" y="1764792"/>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Klik sel tanggalnya</a:t>
            </a:r>
          </a:p>
        </p:txBody>
      </p:sp>
      <p:sp>
        <p:nvSpPr>
          <p:cNvPr id="9" name="TextBox 8"/>
          <p:cNvSpPr txBox="1"/>
          <p:nvPr/>
        </p:nvSpPr>
        <p:spPr>
          <a:xfrm>
            <a:off x="1225296" y="2020824"/>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Di baris karyawan yang bersangkutan pada roster.</a:t>
            </a:r>
          </a:p>
        </p:txBody>
      </p:sp>
      <p:sp>
        <p:nvSpPr>
          <p:cNvPr id="10" name="Oval 9"/>
          <p:cNvSpPr/>
          <p:nvPr/>
        </p:nvSpPr>
        <p:spPr>
          <a:xfrm>
            <a:off x="749808" y="2624328"/>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2</a:t>
            </a:r>
          </a:p>
        </p:txBody>
      </p:sp>
      <p:sp>
        <p:nvSpPr>
          <p:cNvPr id="11" name="TextBox 10"/>
          <p:cNvSpPr txBox="1"/>
          <p:nvPr/>
        </p:nvSpPr>
        <p:spPr>
          <a:xfrm>
            <a:off x="1225296" y="2606040"/>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Pastikan bukan hari libur</a:t>
            </a:r>
          </a:p>
        </p:txBody>
      </p:sp>
      <p:sp>
        <p:nvSpPr>
          <p:cNvPr id="12" name="TextBox 11"/>
          <p:cNvSpPr txBox="1"/>
          <p:nvPr/>
        </p:nvSpPr>
        <p:spPr>
          <a:xfrm>
            <a:off x="1225296" y="2862072"/>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Biarkan “Tandai sebagai libur” tidak tercentang.</a:t>
            </a:r>
          </a:p>
        </p:txBody>
      </p:sp>
      <p:sp>
        <p:nvSpPr>
          <p:cNvPr id="13" name="Oval 12"/>
          <p:cNvSpPr/>
          <p:nvPr/>
        </p:nvSpPr>
        <p:spPr>
          <a:xfrm>
            <a:off x="749808" y="3465576"/>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3</a:t>
            </a:r>
          </a:p>
        </p:txBody>
      </p:sp>
      <p:sp>
        <p:nvSpPr>
          <p:cNvPr id="14" name="TextBox 13"/>
          <p:cNvSpPr txBox="1"/>
          <p:nvPr/>
        </p:nvSpPr>
        <p:spPr>
          <a:xfrm>
            <a:off x="1225296" y="3447288"/>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Pilih shift, centang WFH</a:t>
            </a:r>
          </a:p>
        </p:txBody>
      </p:sp>
      <p:sp>
        <p:nvSpPr>
          <p:cNvPr id="15" name="TextBox 14"/>
          <p:cNvSpPr txBox="1"/>
          <p:nvPr/>
        </p:nvSpPr>
        <p:spPr>
          <a:xfrm>
            <a:off x="1225296" y="3703320"/>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Jam kerjanya tetap dihitung penuh seperti di kantor.</a:t>
            </a:r>
          </a:p>
        </p:txBody>
      </p:sp>
      <p:sp>
        <p:nvSpPr>
          <p:cNvPr id="16" name="Oval 15"/>
          <p:cNvSpPr/>
          <p:nvPr/>
        </p:nvSpPr>
        <p:spPr>
          <a:xfrm>
            <a:off x="749808" y="4306824"/>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4</a:t>
            </a:r>
          </a:p>
        </p:txBody>
      </p:sp>
      <p:sp>
        <p:nvSpPr>
          <p:cNvPr id="17" name="TextBox 16"/>
          <p:cNvSpPr txBox="1"/>
          <p:nvPr/>
        </p:nvSpPr>
        <p:spPr>
          <a:xfrm>
            <a:off x="1225296" y="4288536"/>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Simpan</a:t>
            </a:r>
          </a:p>
        </p:txBody>
      </p:sp>
      <p:sp>
        <p:nvSpPr>
          <p:cNvPr id="18" name="TextBox 17"/>
          <p:cNvSpPr txBox="1"/>
          <p:nvPr/>
        </p:nvSpPr>
        <p:spPr>
          <a:xfrm>
            <a:off x="1225296" y="4544568"/>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Perubahan manual ini tidak akan tertimpa saat roster diperbarui.</a:t>
            </a:r>
          </a:p>
        </p:txBody>
      </p:sp>
      <p:sp>
        <p:nvSpPr>
          <p:cNvPr id="19" name="Rounded Rectangle 18"/>
          <p:cNvSpPr/>
          <p:nvPr/>
        </p:nvSpPr>
        <p:spPr>
          <a:xfrm>
            <a:off x="4658868" y="1732788"/>
            <a:ext cx="6821424" cy="4421124"/>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4-override-wfh.png"/>
          <p:cNvPicPr>
            <a:picLocks noChangeAspect="1"/>
          </p:cNvPicPr>
          <p:nvPr/>
        </p:nvPicPr>
        <p:blipFill>
          <a:blip r:embed="rId2"/>
          <a:srcRect l="22000" t="20000" r="22000" b="30000"/>
          <a:stretch>
            <a:fillRect/>
          </a:stretch>
        </p:blipFill>
        <p:spPr>
          <a:xfrm>
            <a:off x="4709160" y="1783080"/>
            <a:ext cx="6720840" cy="4320540"/>
          </a:xfrm>
          <a:prstGeom prst="rect">
            <a:avLst/>
          </a:prstGeom>
        </p:spPr>
      </p:pic>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 · Menyusun Jadwal</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48840"/>
            <a:ext cx="5486400" cy="274320"/>
          </a:xfrm>
          <a:prstGeom prst="rect">
            <a:avLst/>
          </a:prstGeom>
          <a:noFill/>
        </p:spPr>
        <p:txBody>
          <a:bodyPr wrap="square" lIns="0" rIns="0" tIns="0" bIns="0" anchor="t">
            <a:spAutoFit/>
          </a:bodyPr>
          <a:lstStyle/>
          <a:p>
            <a:pPr algn="l">
              <a:lnSpc>
                <a:spcPct val="115000"/>
              </a:lnSpc>
            </a:pPr>
            <a:r>
              <a:rPr sz="1150" b="1" i="0">
                <a:solidFill>
                  <a:srgbClr val="D97706"/>
                </a:solidFill>
                <a:latin typeface="Segoe UI"/>
              </a:rPr>
              <a:t>BAGIAN II · UNTUK KARYAWAN</a:t>
            </a:r>
          </a:p>
        </p:txBody>
      </p:sp>
      <p:sp>
        <p:nvSpPr>
          <p:cNvPr id="6" name="TextBox 5"/>
          <p:cNvSpPr txBox="1"/>
          <p:nvPr/>
        </p:nvSpPr>
        <p:spPr>
          <a:xfrm>
            <a:off x="1005840" y="2487168"/>
            <a:ext cx="6400800" cy="822960"/>
          </a:xfrm>
          <a:prstGeom prst="rect">
            <a:avLst/>
          </a:prstGeom>
          <a:noFill/>
        </p:spPr>
        <p:txBody>
          <a:bodyPr wrap="square" lIns="0" rIns="0" tIns="0" bIns="0" anchor="t">
            <a:spAutoFit/>
          </a:bodyPr>
          <a:lstStyle/>
          <a:p>
            <a:pPr algn="l">
              <a:lnSpc>
                <a:spcPct val="115000"/>
              </a:lnSpc>
            </a:pPr>
            <a:r>
              <a:rPr sz="4000" b="1" i="0">
                <a:solidFill>
                  <a:srgbClr val="FFFFFF"/>
                </a:solidFill>
                <a:latin typeface="Segoe UI"/>
              </a:rPr>
              <a:t>Mengajukan Cuti</a:t>
            </a:r>
          </a:p>
        </p:txBody>
      </p:sp>
      <p:sp>
        <p:nvSpPr>
          <p:cNvPr id="7" name="TextBox 6"/>
          <p:cNvSpPr txBox="1"/>
          <p:nvPr/>
        </p:nvSpPr>
        <p:spPr>
          <a:xfrm>
            <a:off x="1005840" y="3611880"/>
            <a:ext cx="5760720" cy="914400"/>
          </a:xfrm>
          <a:prstGeom prst="rect">
            <a:avLst/>
          </a:prstGeom>
          <a:noFill/>
        </p:spPr>
        <p:txBody>
          <a:bodyPr wrap="square" lIns="0" rIns="0" tIns="0" bIns="0" anchor="t">
            <a:spAutoFit/>
          </a:bodyPr>
          <a:lstStyle/>
          <a:p>
            <a:pPr algn="l">
              <a:lnSpc>
                <a:spcPct val="135000"/>
              </a:lnSpc>
            </a:pPr>
            <a:r>
              <a:rPr sz="1400" b="0" i="0">
                <a:solidFill>
                  <a:srgbClr val="CBD5E1"/>
                </a:solidFill>
                <a:latin typeface="Segoe UI"/>
              </a:rPr>
              <a:t>Pengajuan dikirim ke atasan langsung. Selama belum disetujui, kewajiban absen masih berlaku.</a:t>
            </a:r>
          </a:p>
        </p:txBody>
      </p:sp>
      <p:sp>
        <p:nvSpPr>
          <p:cNvPr id="8" name="Oval 7"/>
          <p:cNvSpPr/>
          <p:nvPr/>
        </p:nvSpPr>
        <p:spPr>
          <a:xfrm>
            <a:off x="7772400" y="2569464"/>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514600"/>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Mengisi pengajuan</a:t>
            </a:r>
          </a:p>
        </p:txBody>
      </p:sp>
      <p:sp>
        <p:nvSpPr>
          <p:cNvPr id="10" name="Oval 9"/>
          <p:cNvSpPr/>
          <p:nvPr/>
        </p:nvSpPr>
        <p:spPr>
          <a:xfrm>
            <a:off x="7772400" y="3136392"/>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081528"/>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Melampirkan bukti</a:t>
            </a:r>
          </a:p>
        </p:txBody>
      </p:sp>
      <p:sp>
        <p:nvSpPr>
          <p:cNvPr id="12" name="Oval 11"/>
          <p:cNvSpPr/>
          <p:nvPr/>
        </p:nvSpPr>
        <p:spPr>
          <a:xfrm>
            <a:off x="7772400" y="3703320"/>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648456"/>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Memantau status</a:t>
            </a:r>
          </a:p>
        </p:txBody>
      </p:sp>
      <p:sp>
        <p:nvSpPr>
          <p:cNvPr id="14" name="Oval 13"/>
          <p:cNvSpPr/>
          <p:nvPr/>
        </p:nvSpPr>
        <p:spPr>
          <a:xfrm>
            <a:off x="7772400" y="4270248"/>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215384"/>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Membatalkan bila perlu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D97706"/>
                </a:solidFill>
                <a:latin typeface="Segoe UI"/>
              </a:rPr>
              <a:t>BAGIAN II</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Alur satu pengajuan cuti</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Dari dikirim sampai berpengaruh ke absensi.</a:t>
            </a:r>
          </a:p>
        </p:txBody>
      </p:sp>
      <p:sp>
        <p:nvSpPr>
          <p:cNvPr id="7" name="Rounded Rectangle 6"/>
          <p:cNvSpPr/>
          <p:nvPr/>
        </p:nvSpPr>
        <p:spPr>
          <a:xfrm>
            <a:off x="749808" y="1874519"/>
            <a:ext cx="2372868" cy="960120"/>
          </a:xfrm>
          <a:prstGeom prst="roundRect">
            <a:avLst>
              <a:gd name="adj" fmla="val 16000"/>
            </a:avLst>
          </a:prstGeom>
          <a:solidFill>
            <a:srgbClr val="FFFFFF"/>
          </a:solidFill>
          <a:ln w="15875">
            <a:solidFill>
              <a:srgbClr val="D97706"/>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Karyawan mengajukan</a:t>
            </a:r>
          </a:p>
          <a:p>
            <a:pPr algn="ctr"/>
            <a:r>
              <a:rPr sz="950">
                <a:solidFill>
                  <a:srgbClr val="4B5563"/>
                </a:solidFill>
                <a:latin typeface="Segoe UI"/>
              </a:rPr>
              <a:t>Cuti Saya › Ajukan</a:t>
            </a:r>
          </a:p>
        </p:txBody>
      </p:sp>
      <p:sp>
        <p:nvSpPr>
          <p:cNvPr id="8" name="Right Arrow 7"/>
          <p:cNvSpPr/>
          <p:nvPr/>
        </p:nvSpPr>
        <p:spPr>
          <a:xfrm>
            <a:off x="3186684" y="2272283"/>
            <a:ext cx="182880" cy="164592"/>
          </a:xfrm>
          <a:prstGeom prst="rightArrow">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33572" y="1874519"/>
            <a:ext cx="2372868" cy="960120"/>
          </a:xfrm>
          <a:prstGeom prst="roundRect">
            <a:avLst>
              <a:gd name="adj" fmla="val 16000"/>
            </a:avLst>
          </a:prstGeom>
          <a:solidFill>
            <a:srgbClr val="FFFFFF"/>
          </a:solidFill>
          <a:ln w="15875">
            <a:solidFill>
              <a:srgbClr val="D97706"/>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Menunggu atasan</a:t>
            </a:r>
          </a:p>
          <a:p>
            <a:pPr algn="ctr"/>
            <a:r>
              <a:rPr sz="950">
                <a:solidFill>
                  <a:srgbClr val="4B5563"/>
                </a:solidFill>
                <a:latin typeface="Segoe UI"/>
              </a:rPr>
              <a:t>status: Menunggu</a:t>
            </a:r>
          </a:p>
        </p:txBody>
      </p:sp>
      <p:sp>
        <p:nvSpPr>
          <p:cNvPr id="10" name="Right Arrow 9"/>
          <p:cNvSpPr/>
          <p:nvPr/>
        </p:nvSpPr>
        <p:spPr>
          <a:xfrm>
            <a:off x="5870448" y="2272283"/>
            <a:ext cx="182880" cy="164592"/>
          </a:xfrm>
          <a:prstGeom prst="rightArrow">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17336" y="1874519"/>
            <a:ext cx="2372868" cy="960120"/>
          </a:xfrm>
          <a:prstGeom prst="roundRect">
            <a:avLst>
              <a:gd name="adj" fmla="val 16000"/>
            </a:avLst>
          </a:prstGeom>
          <a:solidFill>
            <a:srgbClr val="FFFFFF"/>
          </a:solidFill>
          <a:ln w="15875">
            <a:solidFill>
              <a:srgbClr val="D97706"/>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Atasan memutuskan</a:t>
            </a:r>
          </a:p>
          <a:p>
            <a:pPr algn="ctr"/>
            <a:r>
              <a:rPr sz="950">
                <a:solidFill>
                  <a:srgbClr val="4B5563"/>
                </a:solidFill>
                <a:latin typeface="Segoe UI"/>
              </a:rPr>
              <a:t>setuju / tolak</a:t>
            </a:r>
          </a:p>
        </p:txBody>
      </p:sp>
      <p:sp>
        <p:nvSpPr>
          <p:cNvPr id="12" name="Right Arrow 11"/>
          <p:cNvSpPr/>
          <p:nvPr/>
        </p:nvSpPr>
        <p:spPr>
          <a:xfrm>
            <a:off x="8554212" y="2272283"/>
            <a:ext cx="182880" cy="164592"/>
          </a:xfrm>
          <a:prstGeom prst="rightArrow">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801100" y="1874519"/>
            <a:ext cx="2372868" cy="960120"/>
          </a:xfrm>
          <a:prstGeom prst="roundRect">
            <a:avLst>
              <a:gd name="adj" fmla="val 16000"/>
            </a:avLst>
          </a:prstGeom>
          <a:solidFill>
            <a:srgbClr val="FFFFFF"/>
          </a:solidFill>
          <a:ln w="15875">
            <a:solidFill>
              <a:srgbClr val="D97706"/>
            </a:solidFill>
          </a:ln>
          <a:effectLst>
            <a:outerShdw blurRad="228600" dist="63500" dir="5400000" rotWithShape="0">
              <a:srgbClr val="0B122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0B1220"/>
                </a:solidFill>
                <a:latin typeface="Segoe UI"/>
              </a:rPr>
              <a:t>Jadwal menyesuaikan</a:t>
            </a:r>
          </a:p>
          <a:p>
            <a:pPr algn="ctr"/>
            <a:r>
              <a:rPr sz="950">
                <a:solidFill>
                  <a:srgbClr val="4B5563"/>
                </a:solidFill>
                <a:latin typeface="Segoe UI"/>
              </a:rPr>
              <a:t>hari itu tidak dihitung alfa</a:t>
            </a:r>
          </a:p>
        </p:txBody>
      </p:sp>
      <p:sp>
        <p:nvSpPr>
          <p:cNvPr id="14" name="Rounded Rectangle 13"/>
          <p:cNvSpPr/>
          <p:nvPr/>
        </p:nvSpPr>
        <p:spPr>
          <a:xfrm>
            <a:off x="749808" y="3246120"/>
            <a:ext cx="5029200" cy="242316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15568" y="3493008"/>
            <a:ext cx="4297680" cy="274320"/>
          </a:xfrm>
          <a:prstGeom prst="rect">
            <a:avLst/>
          </a:prstGeom>
          <a:noFill/>
        </p:spPr>
        <p:txBody>
          <a:bodyPr wrap="square" lIns="0" rIns="0" tIns="0" bIns="0" anchor="t">
            <a:spAutoFit/>
          </a:bodyPr>
          <a:lstStyle/>
          <a:p>
            <a:pPr algn="l">
              <a:lnSpc>
                <a:spcPct val="115000"/>
              </a:lnSpc>
            </a:pPr>
            <a:r>
              <a:rPr sz="1400" b="1" i="0">
                <a:solidFill>
                  <a:srgbClr val="0B1220"/>
                </a:solidFill>
                <a:latin typeface="Segoe UI"/>
              </a:rPr>
              <a:t>Sebelum mengajukan</a:t>
            </a:r>
          </a:p>
        </p:txBody>
      </p:sp>
      <p:sp>
        <p:nvSpPr>
          <p:cNvPr id="16" name="Oval 15"/>
          <p:cNvSpPr/>
          <p:nvPr/>
        </p:nvSpPr>
        <p:spPr>
          <a:xfrm>
            <a:off x="1133856" y="40233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08176" y="3931920"/>
            <a:ext cx="4023360" cy="50292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Pastikan sisa kuota mencukupi.</a:t>
            </a:r>
          </a:p>
        </p:txBody>
      </p:sp>
      <p:sp>
        <p:nvSpPr>
          <p:cNvPr id="18" name="Oval 17"/>
          <p:cNvSpPr/>
          <p:nvPr/>
        </p:nvSpPr>
        <p:spPr>
          <a:xfrm>
            <a:off x="1133856" y="4572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8176" y="4480560"/>
            <a:ext cx="4023360" cy="50292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Siapkan lampiran bila jenisnya membutuhkan (mis. surat dokter).</a:t>
            </a:r>
          </a:p>
        </p:txBody>
      </p:sp>
      <p:sp>
        <p:nvSpPr>
          <p:cNvPr id="20" name="Oval 19"/>
          <p:cNvSpPr/>
          <p:nvPr/>
        </p:nvSpPr>
        <p:spPr>
          <a:xfrm>
            <a:off x="1133856" y="5120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08176" y="5029200"/>
            <a:ext cx="4023360" cy="50292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Ajukan jauh hari untuk cuti terencana.</a:t>
            </a:r>
          </a:p>
        </p:txBody>
      </p:sp>
      <p:sp>
        <p:nvSpPr>
          <p:cNvPr id="22" name="Rounded Rectangle 21"/>
          <p:cNvSpPr/>
          <p:nvPr/>
        </p:nvSpPr>
        <p:spPr>
          <a:xfrm>
            <a:off x="6144768" y="3246120"/>
            <a:ext cx="5029200" cy="242316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10528" y="3493008"/>
            <a:ext cx="4297680" cy="274320"/>
          </a:xfrm>
          <a:prstGeom prst="rect">
            <a:avLst/>
          </a:prstGeom>
          <a:noFill/>
        </p:spPr>
        <p:txBody>
          <a:bodyPr wrap="square" lIns="0" rIns="0" tIns="0" bIns="0" anchor="t">
            <a:spAutoFit/>
          </a:bodyPr>
          <a:lstStyle/>
          <a:p>
            <a:pPr algn="l">
              <a:lnSpc>
                <a:spcPct val="115000"/>
              </a:lnSpc>
            </a:pPr>
            <a:r>
              <a:rPr sz="1400" b="1" i="0">
                <a:solidFill>
                  <a:srgbClr val="0B1220"/>
                </a:solidFill>
                <a:latin typeface="Segoe UI"/>
              </a:rPr>
              <a:t>Setelah mengajukan</a:t>
            </a:r>
          </a:p>
        </p:txBody>
      </p:sp>
      <p:sp>
        <p:nvSpPr>
          <p:cNvPr id="24" name="Oval 23"/>
          <p:cNvSpPr/>
          <p:nvPr/>
        </p:nvSpPr>
        <p:spPr>
          <a:xfrm>
            <a:off x="6528816" y="40233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03136" y="3931920"/>
            <a:ext cx="4023360" cy="50292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Status terlihat di Cuti Saya.</a:t>
            </a:r>
          </a:p>
        </p:txBody>
      </p:sp>
      <p:sp>
        <p:nvSpPr>
          <p:cNvPr id="26" name="Oval 25"/>
          <p:cNvSpPr/>
          <p:nvPr/>
        </p:nvSpPr>
        <p:spPr>
          <a:xfrm>
            <a:off x="6528816" y="4572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03136" y="4480560"/>
            <a:ext cx="4023360" cy="50292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Pengajuan boleh dibatalkan selama belum disetujui.</a:t>
            </a:r>
          </a:p>
        </p:txBody>
      </p:sp>
      <p:sp>
        <p:nvSpPr>
          <p:cNvPr id="28" name="Oval 27"/>
          <p:cNvSpPr/>
          <p:nvPr/>
        </p:nvSpPr>
        <p:spPr>
          <a:xfrm>
            <a:off x="6528816" y="5120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03136" y="5029200"/>
            <a:ext cx="4023360" cy="50292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Tetap absen seperti biasa sampai statusnya disetujui.</a:t>
            </a:r>
          </a:p>
        </p:txBody>
      </p:sp>
      <p:sp>
        <p:nvSpPr>
          <p:cNvPr id="30" name="TextBox 29"/>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II · Mengajukan Cuti</a:t>
            </a:r>
          </a:p>
        </p:txBody>
      </p:sp>
      <p:sp>
        <p:nvSpPr>
          <p:cNvPr id="31" name="TextBox 30"/>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D97706"/>
                </a:solidFill>
                <a:latin typeface="Segoe UI"/>
              </a:rPr>
              <a:t>BAGIAN II · LANGKAH DEMI LANGKAH</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Mengisi pengajuan cuti</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Menu Self-service › Cuti Saya › tombol Ajukan Cuti/Izin.</a:t>
            </a:r>
          </a:p>
        </p:txBody>
      </p:sp>
      <p:sp>
        <p:nvSpPr>
          <p:cNvPr id="7" name="Oval 6"/>
          <p:cNvSpPr/>
          <p:nvPr/>
        </p:nvSpPr>
        <p:spPr>
          <a:xfrm>
            <a:off x="749808" y="1783080"/>
            <a:ext cx="310896" cy="3108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1</a:t>
            </a:r>
          </a:p>
        </p:txBody>
      </p:sp>
      <p:sp>
        <p:nvSpPr>
          <p:cNvPr id="8" name="TextBox 7"/>
          <p:cNvSpPr txBox="1"/>
          <p:nvPr/>
        </p:nvSpPr>
        <p:spPr>
          <a:xfrm>
            <a:off x="1225296" y="1764792"/>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Pilih jenis cuti/izin</a:t>
            </a:r>
          </a:p>
        </p:txBody>
      </p:sp>
      <p:sp>
        <p:nvSpPr>
          <p:cNvPr id="9" name="TextBox 8"/>
          <p:cNvSpPr txBox="1"/>
          <p:nvPr/>
        </p:nvSpPr>
        <p:spPr>
          <a:xfrm>
            <a:off x="1225296" y="2020824"/>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Sisa kuota untuk tiap jenis tampil di halaman Cuti Saya.</a:t>
            </a:r>
          </a:p>
        </p:txBody>
      </p:sp>
      <p:sp>
        <p:nvSpPr>
          <p:cNvPr id="10" name="Oval 9"/>
          <p:cNvSpPr/>
          <p:nvPr/>
        </p:nvSpPr>
        <p:spPr>
          <a:xfrm>
            <a:off x="749808" y="2624328"/>
            <a:ext cx="310896" cy="3108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2</a:t>
            </a:r>
          </a:p>
        </p:txBody>
      </p:sp>
      <p:sp>
        <p:nvSpPr>
          <p:cNvPr id="11" name="TextBox 10"/>
          <p:cNvSpPr txBox="1"/>
          <p:nvPr/>
        </p:nvSpPr>
        <p:spPr>
          <a:xfrm>
            <a:off x="1225296" y="2606040"/>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Tentukan tanggal mulai &amp; selesai</a:t>
            </a:r>
          </a:p>
        </p:txBody>
      </p:sp>
      <p:sp>
        <p:nvSpPr>
          <p:cNvPr id="12" name="TextBox 11"/>
          <p:cNvSpPr txBox="1"/>
          <p:nvPr/>
        </p:nvSpPr>
        <p:spPr>
          <a:xfrm>
            <a:off x="1225296" y="2862072"/>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Jumlah hari dihitung otomatis dari rentang tersebut.</a:t>
            </a:r>
          </a:p>
        </p:txBody>
      </p:sp>
      <p:sp>
        <p:nvSpPr>
          <p:cNvPr id="13" name="Oval 12"/>
          <p:cNvSpPr/>
          <p:nvPr/>
        </p:nvSpPr>
        <p:spPr>
          <a:xfrm>
            <a:off x="749808" y="3465576"/>
            <a:ext cx="310896" cy="3108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3</a:t>
            </a:r>
          </a:p>
        </p:txBody>
      </p:sp>
      <p:sp>
        <p:nvSpPr>
          <p:cNvPr id="14" name="TextBox 13"/>
          <p:cNvSpPr txBox="1"/>
          <p:nvPr/>
        </p:nvSpPr>
        <p:spPr>
          <a:xfrm>
            <a:off x="1225296" y="3447288"/>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Tulis alasan singkat</a:t>
            </a:r>
          </a:p>
        </p:txBody>
      </p:sp>
      <p:sp>
        <p:nvSpPr>
          <p:cNvPr id="15" name="TextBox 14"/>
          <p:cNvSpPr txBox="1"/>
          <p:nvPr/>
        </p:nvSpPr>
        <p:spPr>
          <a:xfrm>
            <a:off x="1225296" y="3703320"/>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Membantu atasan memutuskan tanpa perlu bertanya ulang.</a:t>
            </a:r>
          </a:p>
        </p:txBody>
      </p:sp>
      <p:sp>
        <p:nvSpPr>
          <p:cNvPr id="16" name="Oval 15"/>
          <p:cNvSpPr/>
          <p:nvPr/>
        </p:nvSpPr>
        <p:spPr>
          <a:xfrm>
            <a:off x="749808" y="4306824"/>
            <a:ext cx="310896" cy="3108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4</a:t>
            </a:r>
          </a:p>
        </p:txBody>
      </p:sp>
      <p:sp>
        <p:nvSpPr>
          <p:cNvPr id="17" name="TextBox 16"/>
          <p:cNvSpPr txBox="1"/>
          <p:nvPr/>
        </p:nvSpPr>
        <p:spPr>
          <a:xfrm>
            <a:off x="1225296" y="4288536"/>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Lampirkan berkas bila ada</a:t>
            </a:r>
          </a:p>
        </p:txBody>
      </p:sp>
      <p:sp>
        <p:nvSpPr>
          <p:cNvPr id="18" name="TextBox 17"/>
          <p:cNvSpPr txBox="1"/>
          <p:nvPr/>
        </p:nvSpPr>
        <p:spPr>
          <a:xfrm>
            <a:off x="1225296" y="4544568"/>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Maksimal 5 MB, mis. surat dokter untuk cuti sakit.</a:t>
            </a:r>
          </a:p>
        </p:txBody>
      </p:sp>
      <p:sp>
        <p:nvSpPr>
          <p:cNvPr id="19" name="Rounded Rectangle 18"/>
          <p:cNvSpPr/>
          <p:nvPr/>
        </p:nvSpPr>
        <p:spPr>
          <a:xfrm>
            <a:off x="4658868" y="1732788"/>
            <a:ext cx="6821424" cy="4393865"/>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7-ajukan-cuti.png"/>
          <p:cNvPicPr>
            <a:picLocks noChangeAspect="1"/>
          </p:cNvPicPr>
          <p:nvPr/>
        </p:nvPicPr>
        <p:blipFill>
          <a:blip r:embed="rId2"/>
          <a:srcRect l="15467" b="10000"/>
          <a:stretch>
            <a:fillRect/>
          </a:stretch>
        </p:blipFill>
        <p:spPr>
          <a:xfrm>
            <a:off x="4709160" y="1783080"/>
            <a:ext cx="6720840" cy="4293281"/>
          </a:xfrm>
          <a:prstGeom prst="rect">
            <a:avLst/>
          </a:prstGeom>
        </p:spPr>
      </p:pic>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II · Mengajukan Cuti</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D97706"/>
                </a:solidFill>
                <a:latin typeface="Segoe UI"/>
              </a:rPr>
              <a:t>BAGIAN II · SETELAHNYA</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Memantau status pengajuan</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Semua pengajuan Anda beserta statusnya ada di satu halaman.</a:t>
            </a:r>
          </a:p>
        </p:txBody>
      </p:sp>
      <p:sp>
        <p:nvSpPr>
          <p:cNvPr id="7" name="Rounded Rectangle 6"/>
          <p:cNvSpPr/>
          <p:nvPr/>
        </p:nvSpPr>
        <p:spPr>
          <a:xfrm>
            <a:off x="699516" y="1732788"/>
            <a:ext cx="6958584" cy="4286776"/>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8-status-cuti.png"/>
          <p:cNvPicPr>
            <a:picLocks noChangeAspect="1"/>
          </p:cNvPicPr>
          <p:nvPr/>
        </p:nvPicPr>
        <p:blipFill>
          <a:blip r:embed="rId2"/>
          <a:srcRect l="15467" b="14000"/>
          <a:stretch>
            <a:fillRect/>
          </a:stretch>
        </p:blipFill>
        <p:spPr>
          <a:xfrm>
            <a:off x="749808" y="1783080"/>
            <a:ext cx="6858000" cy="4186192"/>
          </a:xfrm>
          <a:prstGeom prst="rect">
            <a:avLst/>
          </a:prstGeom>
        </p:spPr>
      </p:pic>
      <p:sp>
        <p:nvSpPr>
          <p:cNvPr id="9" name="Rounded Rectangle 8"/>
          <p:cNvSpPr/>
          <p:nvPr/>
        </p:nvSpPr>
        <p:spPr>
          <a:xfrm>
            <a:off x="8275320" y="1783080"/>
            <a:ext cx="3154680" cy="32004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77072" y="2011680"/>
            <a:ext cx="2651760" cy="256032"/>
          </a:xfrm>
          <a:prstGeom prst="rect">
            <a:avLst/>
          </a:prstGeom>
          <a:noFill/>
        </p:spPr>
        <p:txBody>
          <a:bodyPr wrap="square" lIns="0" rIns="0" tIns="0" bIns="0" anchor="t">
            <a:spAutoFit/>
          </a:bodyPr>
          <a:lstStyle/>
          <a:p>
            <a:pPr algn="l">
              <a:lnSpc>
                <a:spcPct val="115000"/>
              </a:lnSpc>
            </a:pPr>
            <a:r>
              <a:rPr sz="1300" b="1" i="0">
                <a:solidFill>
                  <a:srgbClr val="0B1220"/>
                </a:solidFill>
                <a:latin typeface="Segoe UI"/>
              </a:rPr>
              <a:t>Arti status</a:t>
            </a:r>
          </a:p>
        </p:txBody>
      </p:sp>
      <p:sp>
        <p:nvSpPr>
          <p:cNvPr id="11" name="Rounded Rectangle 10"/>
          <p:cNvSpPr/>
          <p:nvPr/>
        </p:nvSpPr>
        <p:spPr>
          <a:xfrm>
            <a:off x="8577072" y="2450592"/>
            <a:ext cx="768096" cy="27432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Segoe UI"/>
              </a:rPr>
              <a:t>MENUNGGU</a:t>
            </a:r>
          </a:p>
        </p:txBody>
      </p:sp>
      <p:sp>
        <p:nvSpPr>
          <p:cNvPr id="12" name="TextBox 11"/>
          <p:cNvSpPr txBox="1"/>
          <p:nvPr/>
        </p:nvSpPr>
        <p:spPr>
          <a:xfrm>
            <a:off x="8577072" y="2798064"/>
            <a:ext cx="2606040" cy="457200"/>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Belum diputuskan atasan. Masih bisa dibatalkan sendiri.</a:t>
            </a:r>
          </a:p>
        </p:txBody>
      </p:sp>
      <p:sp>
        <p:nvSpPr>
          <p:cNvPr id="13" name="Rounded Rectangle 12"/>
          <p:cNvSpPr/>
          <p:nvPr/>
        </p:nvSpPr>
        <p:spPr>
          <a:xfrm>
            <a:off x="8577072" y="3291840"/>
            <a:ext cx="845820" cy="274320"/>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Segoe UI"/>
              </a:rPr>
              <a:t>DISETUJUI</a:t>
            </a:r>
          </a:p>
        </p:txBody>
      </p:sp>
      <p:sp>
        <p:nvSpPr>
          <p:cNvPr id="14" name="TextBox 13"/>
          <p:cNvSpPr txBox="1"/>
          <p:nvPr/>
        </p:nvSpPr>
        <p:spPr>
          <a:xfrm>
            <a:off x="8577072" y="3639312"/>
            <a:ext cx="2606040" cy="457200"/>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Sudah berlaku. Hari itu tidak dihitung sebagai alfa.</a:t>
            </a:r>
          </a:p>
        </p:txBody>
      </p:sp>
      <p:sp>
        <p:nvSpPr>
          <p:cNvPr id="15" name="Rounded Rectangle 14"/>
          <p:cNvSpPr/>
          <p:nvPr/>
        </p:nvSpPr>
        <p:spPr>
          <a:xfrm>
            <a:off x="8577072" y="4133088"/>
            <a:ext cx="690372" cy="27432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Segoe UI"/>
              </a:rPr>
              <a:t>DITOLAK</a:t>
            </a:r>
          </a:p>
        </p:txBody>
      </p:sp>
      <p:sp>
        <p:nvSpPr>
          <p:cNvPr id="16" name="TextBox 15"/>
          <p:cNvSpPr txBox="1"/>
          <p:nvPr/>
        </p:nvSpPr>
        <p:spPr>
          <a:xfrm>
            <a:off x="8577072" y="4480560"/>
            <a:ext cx="2606040" cy="457200"/>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Ajukan ulang bila perlu, sebaiknya setelah bicara dengan atasan.</a:t>
            </a:r>
          </a:p>
        </p:txBody>
      </p:sp>
      <p:sp>
        <p:nvSpPr>
          <p:cNvPr id="17" name="Rounded Rectangle 16"/>
          <p:cNvSpPr/>
          <p:nvPr/>
        </p:nvSpPr>
        <p:spPr>
          <a:xfrm>
            <a:off x="8275320" y="5138928"/>
            <a:ext cx="3154680" cy="548640"/>
          </a:xfrm>
          <a:prstGeom prst="roundRect">
            <a:avLst>
              <a:gd name="adj" fmla="val 3500"/>
            </a:avLst>
          </a:prstGeom>
          <a:solidFill>
            <a:srgbClr val="FEF3C7"/>
          </a:solidFill>
          <a:ln>
            <a:no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77072" y="5285232"/>
            <a:ext cx="2606040" cy="274320"/>
          </a:xfrm>
          <a:prstGeom prst="rect">
            <a:avLst/>
          </a:prstGeom>
          <a:noFill/>
        </p:spPr>
        <p:txBody>
          <a:bodyPr wrap="square" lIns="0" rIns="0" tIns="0" bIns="0" anchor="t">
            <a:spAutoFit/>
          </a:bodyPr>
          <a:lstStyle/>
          <a:p>
            <a:pPr algn="l">
              <a:lnSpc>
                <a:spcPct val="115000"/>
              </a:lnSpc>
            </a:pPr>
            <a:r>
              <a:rPr sz="1100" b="1" i="0">
                <a:solidFill>
                  <a:srgbClr val="92400E"/>
                </a:solidFill>
                <a:latin typeface="Segoe UI"/>
              </a:rPr>
              <a:t>Tetap absen sampai statusnya disetujui.</a:t>
            </a:r>
          </a:p>
        </p:txBody>
      </p:sp>
      <p:sp>
        <p:nvSpPr>
          <p:cNvPr id="19" name="TextBox 18"/>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II · Mengajukan Cuti</a:t>
            </a:r>
          </a:p>
        </p:txBody>
      </p:sp>
      <p:sp>
        <p:nvSpPr>
          <p:cNvPr id="20" name="TextBox 19"/>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48840"/>
            <a:ext cx="5486400" cy="274320"/>
          </a:xfrm>
          <a:prstGeom prst="rect">
            <a:avLst/>
          </a:prstGeom>
          <a:noFill/>
        </p:spPr>
        <p:txBody>
          <a:bodyPr wrap="square" lIns="0" rIns="0" tIns="0" bIns="0" anchor="t">
            <a:spAutoFit/>
          </a:bodyPr>
          <a:lstStyle/>
          <a:p>
            <a:pPr algn="l">
              <a:lnSpc>
                <a:spcPct val="115000"/>
              </a:lnSpc>
            </a:pPr>
            <a:r>
              <a:rPr sz="1150" b="1" i="0">
                <a:solidFill>
                  <a:srgbClr val="0284C7"/>
                </a:solidFill>
                <a:latin typeface="Segoe UI"/>
              </a:rPr>
              <a:t>BAGIAN III · UNTUK ATASAN</a:t>
            </a:r>
          </a:p>
        </p:txBody>
      </p:sp>
      <p:sp>
        <p:nvSpPr>
          <p:cNvPr id="6" name="TextBox 5"/>
          <p:cNvSpPr txBox="1"/>
          <p:nvPr/>
        </p:nvSpPr>
        <p:spPr>
          <a:xfrm>
            <a:off x="1005840" y="2487168"/>
            <a:ext cx="6400800" cy="822960"/>
          </a:xfrm>
          <a:prstGeom prst="rect">
            <a:avLst/>
          </a:prstGeom>
          <a:noFill/>
        </p:spPr>
        <p:txBody>
          <a:bodyPr wrap="square" lIns="0" rIns="0" tIns="0" bIns="0" anchor="t">
            <a:spAutoFit/>
          </a:bodyPr>
          <a:lstStyle/>
          <a:p>
            <a:pPr algn="l">
              <a:lnSpc>
                <a:spcPct val="115000"/>
              </a:lnSpc>
            </a:pPr>
            <a:r>
              <a:rPr sz="4000" b="1" i="0">
                <a:solidFill>
                  <a:srgbClr val="FFFFFF"/>
                </a:solidFill>
                <a:latin typeface="Segoe UI"/>
              </a:rPr>
              <a:t>Menyetujui Cuti</a:t>
            </a:r>
          </a:p>
        </p:txBody>
      </p:sp>
      <p:sp>
        <p:nvSpPr>
          <p:cNvPr id="7" name="TextBox 6"/>
          <p:cNvSpPr txBox="1"/>
          <p:nvPr/>
        </p:nvSpPr>
        <p:spPr>
          <a:xfrm>
            <a:off x="1005840" y="3611880"/>
            <a:ext cx="5760720" cy="914400"/>
          </a:xfrm>
          <a:prstGeom prst="rect">
            <a:avLst/>
          </a:prstGeom>
          <a:noFill/>
        </p:spPr>
        <p:txBody>
          <a:bodyPr wrap="square" lIns="0" rIns="0" tIns="0" bIns="0" anchor="t">
            <a:spAutoFit/>
          </a:bodyPr>
          <a:lstStyle/>
          <a:p>
            <a:pPr algn="l">
              <a:lnSpc>
                <a:spcPct val="135000"/>
              </a:lnSpc>
            </a:pPr>
            <a:r>
              <a:rPr sz="1400" b="0" i="0">
                <a:solidFill>
                  <a:srgbClr val="CBD5E1"/>
                </a:solidFill>
                <a:latin typeface="Segoe UI"/>
              </a:rPr>
              <a:t>Pengajuan bawahan muncul di halaman Cuti Saya milik Anda, di panel terpisah dari pengajuan pribadi.</a:t>
            </a:r>
          </a:p>
        </p:txBody>
      </p:sp>
      <p:sp>
        <p:nvSpPr>
          <p:cNvPr id="8" name="Oval 7"/>
          <p:cNvSpPr/>
          <p:nvPr/>
        </p:nvSpPr>
        <p:spPr>
          <a:xfrm>
            <a:off x="7772400" y="2569464"/>
            <a:ext cx="128016" cy="12801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514600"/>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Menemukan yang menunggu</a:t>
            </a:r>
          </a:p>
        </p:txBody>
      </p:sp>
      <p:sp>
        <p:nvSpPr>
          <p:cNvPr id="10" name="Oval 9"/>
          <p:cNvSpPr/>
          <p:nvPr/>
        </p:nvSpPr>
        <p:spPr>
          <a:xfrm>
            <a:off x="7772400" y="3136392"/>
            <a:ext cx="128016" cy="12801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081528"/>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Memeriksa isinya</a:t>
            </a:r>
          </a:p>
        </p:txBody>
      </p:sp>
      <p:sp>
        <p:nvSpPr>
          <p:cNvPr id="12" name="Oval 11"/>
          <p:cNvSpPr/>
          <p:nvPr/>
        </p:nvSpPr>
        <p:spPr>
          <a:xfrm>
            <a:off x="7772400" y="3703320"/>
            <a:ext cx="128016" cy="12801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648456"/>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Menyetujui atau menolak</a:t>
            </a:r>
          </a:p>
        </p:txBody>
      </p:sp>
      <p:sp>
        <p:nvSpPr>
          <p:cNvPr id="14" name="Oval 13"/>
          <p:cNvSpPr/>
          <p:nvPr/>
        </p:nvSpPr>
        <p:spPr>
          <a:xfrm>
            <a:off x="7772400" y="4270248"/>
            <a:ext cx="128016" cy="12801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215384"/>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Setelah diputuskan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0284C7"/>
                </a:solidFill>
                <a:latin typeface="Segoe UI"/>
              </a:rPr>
              <a:t>BAGIAN III</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Memeriksa dan memutuskan</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Self-service › Cuti Saya. Panel kuning di atas berisi pengajuan yang menunggu Anda.</a:t>
            </a:r>
          </a:p>
        </p:txBody>
      </p:sp>
      <p:sp>
        <p:nvSpPr>
          <p:cNvPr id="7" name="Oval 6"/>
          <p:cNvSpPr/>
          <p:nvPr/>
        </p:nvSpPr>
        <p:spPr>
          <a:xfrm>
            <a:off x="749808" y="1783080"/>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1</a:t>
            </a:r>
          </a:p>
        </p:txBody>
      </p:sp>
      <p:sp>
        <p:nvSpPr>
          <p:cNvPr id="8" name="TextBox 7"/>
          <p:cNvSpPr txBox="1"/>
          <p:nvPr/>
        </p:nvSpPr>
        <p:spPr>
          <a:xfrm>
            <a:off x="1225296" y="1764792"/>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Buka Cuti Saya</a:t>
            </a:r>
          </a:p>
        </p:txBody>
      </p:sp>
      <p:sp>
        <p:nvSpPr>
          <p:cNvPr id="9" name="TextBox 8"/>
          <p:cNvSpPr txBox="1"/>
          <p:nvPr/>
        </p:nvSpPr>
        <p:spPr>
          <a:xfrm>
            <a:off x="1225296" y="2020824"/>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Panel “Menunggu Persetujuan Anda” muncul bila ada antrean.</a:t>
            </a:r>
          </a:p>
        </p:txBody>
      </p:sp>
      <p:sp>
        <p:nvSpPr>
          <p:cNvPr id="10" name="Oval 9"/>
          <p:cNvSpPr/>
          <p:nvPr/>
        </p:nvSpPr>
        <p:spPr>
          <a:xfrm>
            <a:off x="749808" y="2624328"/>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2</a:t>
            </a:r>
          </a:p>
        </p:txBody>
      </p:sp>
      <p:sp>
        <p:nvSpPr>
          <p:cNvPr id="11" name="TextBox 10"/>
          <p:cNvSpPr txBox="1"/>
          <p:nvPr/>
        </p:nvSpPr>
        <p:spPr>
          <a:xfrm>
            <a:off x="1225296" y="2606040"/>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Periksa jenis dan periode</a:t>
            </a:r>
          </a:p>
        </p:txBody>
      </p:sp>
      <p:sp>
        <p:nvSpPr>
          <p:cNvPr id="12" name="TextBox 11"/>
          <p:cNvSpPr txBox="1"/>
          <p:nvPr/>
        </p:nvSpPr>
        <p:spPr>
          <a:xfrm>
            <a:off x="1225296" y="2862072"/>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Perhatikan tabrakan dengan jadwal tim di tanggal yang sama.</a:t>
            </a:r>
          </a:p>
        </p:txBody>
      </p:sp>
      <p:sp>
        <p:nvSpPr>
          <p:cNvPr id="13" name="Oval 12"/>
          <p:cNvSpPr/>
          <p:nvPr/>
        </p:nvSpPr>
        <p:spPr>
          <a:xfrm>
            <a:off x="749808" y="3465576"/>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3</a:t>
            </a:r>
          </a:p>
        </p:txBody>
      </p:sp>
      <p:sp>
        <p:nvSpPr>
          <p:cNvPr id="14" name="TextBox 13"/>
          <p:cNvSpPr txBox="1"/>
          <p:nvPr/>
        </p:nvSpPr>
        <p:spPr>
          <a:xfrm>
            <a:off x="1225296" y="3447288"/>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Buka menu aksi di kanan baris</a:t>
            </a:r>
          </a:p>
        </p:txBody>
      </p:sp>
      <p:sp>
        <p:nvSpPr>
          <p:cNvPr id="15" name="TextBox 14"/>
          <p:cNvSpPr txBox="1"/>
          <p:nvPr/>
        </p:nvSpPr>
        <p:spPr>
          <a:xfrm>
            <a:off x="1225296" y="3703320"/>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Pilih Setujui atau Tolak.</a:t>
            </a:r>
          </a:p>
        </p:txBody>
      </p:sp>
      <p:sp>
        <p:nvSpPr>
          <p:cNvPr id="16" name="Oval 15"/>
          <p:cNvSpPr/>
          <p:nvPr/>
        </p:nvSpPr>
        <p:spPr>
          <a:xfrm>
            <a:off x="749808" y="4306824"/>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4</a:t>
            </a:r>
          </a:p>
        </p:txBody>
      </p:sp>
      <p:sp>
        <p:nvSpPr>
          <p:cNvPr id="17" name="TextBox 16"/>
          <p:cNvSpPr txBox="1"/>
          <p:nvPr/>
        </p:nvSpPr>
        <p:spPr>
          <a:xfrm>
            <a:off x="1225296" y="4288536"/>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Beri tahu yang bersangkutan</a:t>
            </a:r>
          </a:p>
        </p:txBody>
      </p:sp>
      <p:sp>
        <p:nvSpPr>
          <p:cNvPr id="18" name="TextBox 17"/>
          <p:cNvSpPr txBox="1"/>
          <p:nvPr/>
        </p:nvSpPr>
        <p:spPr>
          <a:xfrm>
            <a:off x="1225296" y="4544568"/>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Statusnya langsung berubah di halaman Cuti Saya miliknya.</a:t>
            </a:r>
          </a:p>
        </p:txBody>
      </p:sp>
      <p:sp>
        <p:nvSpPr>
          <p:cNvPr id="19" name="Rounded Rectangle 18"/>
          <p:cNvSpPr/>
          <p:nvPr/>
        </p:nvSpPr>
        <p:spPr>
          <a:xfrm>
            <a:off x="4658868" y="1732788"/>
            <a:ext cx="6821424" cy="3630615"/>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5-approve-cuti.png"/>
          <p:cNvPicPr>
            <a:picLocks noChangeAspect="1"/>
          </p:cNvPicPr>
          <p:nvPr/>
        </p:nvPicPr>
        <p:blipFill>
          <a:blip r:embed="rId2"/>
          <a:srcRect l="15467" t="10000" b="16000"/>
          <a:stretch>
            <a:fillRect/>
          </a:stretch>
        </p:blipFill>
        <p:spPr>
          <a:xfrm>
            <a:off x="4709160" y="1783080"/>
            <a:ext cx="6720840" cy="3530031"/>
          </a:xfrm>
          <a:prstGeom prst="rect">
            <a:avLst/>
          </a:prstGeom>
        </p:spPr>
      </p:pic>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III · Menyetujui Cuti</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48840"/>
            <a:ext cx="5486400" cy="274320"/>
          </a:xfrm>
          <a:prstGeom prst="rect">
            <a:avLst/>
          </a:prstGeom>
          <a:noFill/>
        </p:spPr>
        <p:txBody>
          <a:bodyPr wrap="square" lIns="0" rIns="0" tIns="0" bIns="0" anchor="t">
            <a:spAutoFit/>
          </a:bodyPr>
          <a:lstStyle/>
          <a:p>
            <a:pPr algn="l">
              <a:lnSpc>
                <a:spcPct val="115000"/>
              </a:lnSpc>
            </a:pPr>
            <a:r>
              <a:rPr sz="1150" b="1" i="0">
                <a:solidFill>
                  <a:srgbClr val="059669"/>
                </a:solidFill>
                <a:latin typeface="Segoe UI"/>
              </a:rPr>
              <a:t>BAGIAN IV · UNTUK KARYAWAN</a:t>
            </a:r>
          </a:p>
        </p:txBody>
      </p:sp>
      <p:sp>
        <p:nvSpPr>
          <p:cNvPr id="6" name="TextBox 5"/>
          <p:cNvSpPr txBox="1"/>
          <p:nvPr/>
        </p:nvSpPr>
        <p:spPr>
          <a:xfrm>
            <a:off x="1005840" y="2487168"/>
            <a:ext cx="6400800" cy="822960"/>
          </a:xfrm>
          <a:prstGeom prst="rect">
            <a:avLst/>
          </a:prstGeom>
          <a:noFill/>
        </p:spPr>
        <p:txBody>
          <a:bodyPr wrap="square" lIns="0" rIns="0" tIns="0" bIns="0" anchor="t">
            <a:spAutoFit/>
          </a:bodyPr>
          <a:lstStyle/>
          <a:p>
            <a:pPr algn="l">
              <a:lnSpc>
                <a:spcPct val="115000"/>
              </a:lnSpc>
            </a:pPr>
            <a:r>
              <a:rPr sz="4000" b="1" i="0">
                <a:solidFill>
                  <a:srgbClr val="FFFFFF"/>
                </a:solidFill>
                <a:latin typeface="Segoe UI"/>
              </a:rPr>
              <a:t>Absen Saat WFH</a:t>
            </a:r>
          </a:p>
        </p:txBody>
      </p:sp>
      <p:sp>
        <p:nvSpPr>
          <p:cNvPr id="7" name="TextBox 6"/>
          <p:cNvSpPr txBox="1"/>
          <p:nvPr/>
        </p:nvSpPr>
        <p:spPr>
          <a:xfrm>
            <a:off x="1005840" y="3611880"/>
            <a:ext cx="5760720" cy="914400"/>
          </a:xfrm>
          <a:prstGeom prst="rect">
            <a:avLst/>
          </a:prstGeom>
          <a:noFill/>
        </p:spPr>
        <p:txBody>
          <a:bodyPr wrap="square" lIns="0" rIns="0" tIns="0" bIns="0" anchor="t">
            <a:spAutoFit/>
          </a:bodyPr>
          <a:lstStyle/>
          <a:p>
            <a:pPr algn="l">
              <a:lnSpc>
                <a:spcPct val="135000"/>
              </a:lnSpc>
            </a:pPr>
            <a:r>
              <a:rPr sz="1400" b="0" i="0">
                <a:solidFill>
                  <a:srgbClr val="CBD5E1"/>
                </a:solidFill>
                <a:latin typeface="Segoe UI"/>
              </a:rPr>
              <a:t>Pada hari WFH, absensi dilakukan sendiri lewat aplikasi — dengan foto selfie dan izin lokasi.</a:t>
            </a:r>
          </a:p>
        </p:txBody>
      </p:sp>
      <p:sp>
        <p:nvSpPr>
          <p:cNvPr id="8" name="Oval 7"/>
          <p:cNvSpPr/>
          <p:nvPr/>
        </p:nvSpPr>
        <p:spPr>
          <a:xfrm>
            <a:off x="7772400" y="2569464"/>
            <a:ext cx="128016" cy="12801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514600"/>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Mengecek hari WFH</a:t>
            </a:r>
          </a:p>
        </p:txBody>
      </p:sp>
      <p:sp>
        <p:nvSpPr>
          <p:cNvPr id="10" name="Oval 9"/>
          <p:cNvSpPr/>
          <p:nvPr/>
        </p:nvSpPr>
        <p:spPr>
          <a:xfrm>
            <a:off x="7772400" y="3136392"/>
            <a:ext cx="128016" cy="12801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081528"/>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Absen masuk</a:t>
            </a:r>
          </a:p>
        </p:txBody>
      </p:sp>
      <p:sp>
        <p:nvSpPr>
          <p:cNvPr id="12" name="Oval 11"/>
          <p:cNvSpPr/>
          <p:nvPr/>
        </p:nvSpPr>
        <p:spPr>
          <a:xfrm>
            <a:off x="7772400" y="3703320"/>
            <a:ext cx="128016" cy="12801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648456"/>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Absen pulang</a:t>
            </a:r>
          </a:p>
        </p:txBody>
      </p:sp>
      <p:sp>
        <p:nvSpPr>
          <p:cNvPr id="14" name="Oval 13"/>
          <p:cNvSpPr/>
          <p:nvPr/>
        </p:nvSpPr>
        <p:spPr>
          <a:xfrm>
            <a:off x="7772400" y="4270248"/>
            <a:ext cx="128016" cy="12801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215384"/>
            <a:ext cx="3566160" cy="365760"/>
          </a:xfrm>
          <a:prstGeom prst="rect">
            <a:avLst/>
          </a:prstGeom>
          <a:noFill/>
        </p:spPr>
        <p:txBody>
          <a:bodyPr wrap="square" lIns="0" rIns="0" tIns="0" bIns="0" anchor="t">
            <a:spAutoFit/>
          </a:bodyPr>
          <a:lstStyle/>
          <a:p>
            <a:pPr algn="l">
              <a:lnSpc>
                <a:spcPct val="115000"/>
              </a:lnSpc>
            </a:pPr>
            <a:r>
              <a:rPr sz="1300" b="0" i="0">
                <a:solidFill>
                  <a:srgbClr val="E2E8F0"/>
                </a:solidFill>
                <a:latin typeface="Segoe UI"/>
              </a:rPr>
              <a:t>Bila ada yang terlewat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059669"/>
                </a:solidFill>
                <a:latin typeface="Segoe UI"/>
              </a:rPr>
              <a:t>BAGIAN IV · LANGKAH 1</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Memastikan hari ini memang WFH</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Self-service › Jadwal Saya. Hari WFH ditandai berbeda dari hari kantor.</a:t>
            </a:r>
          </a:p>
        </p:txBody>
      </p:sp>
      <p:sp>
        <p:nvSpPr>
          <p:cNvPr id="7" name="Rounded Rectangle 6"/>
          <p:cNvSpPr/>
          <p:nvPr/>
        </p:nvSpPr>
        <p:spPr>
          <a:xfrm>
            <a:off x="699516" y="1732788"/>
            <a:ext cx="6775704" cy="4544697"/>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jadwal-saya.png"/>
          <p:cNvPicPr>
            <a:picLocks noChangeAspect="1"/>
          </p:cNvPicPr>
          <p:nvPr/>
        </p:nvPicPr>
        <p:blipFill>
          <a:blip r:embed="rId2"/>
          <a:srcRect l="15467" b="30000"/>
          <a:stretch>
            <a:fillRect/>
          </a:stretch>
        </p:blipFill>
        <p:spPr>
          <a:xfrm>
            <a:off x="749808" y="1783080"/>
            <a:ext cx="6675120" cy="4444113"/>
          </a:xfrm>
          <a:prstGeom prst="rect">
            <a:avLst/>
          </a:prstGeom>
        </p:spPr>
      </p:pic>
      <p:sp>
        <p:nvSpPr>
          <p:cNvPr id="9" name="Rounded Rectangle 8"/>
          <p:cNvSpPr/>
          <p:nvPr/>
        </p:nvSpPr>
        <p:spPr>
          <a:xfrm>
            <a:off x="7726679" y="1783080"/>
            <a:ext cx="3703320" cy="22860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46720" y="2011680"/>
            <a:ext cx="3108960"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Kenapa perlu dicek</a:t>
            </a:r>
          </a:p>
        </p:txBody>
      </p:sp>
      <p:sp>
        <p:nvSpPr>
          <p:cNvPr id="11" name="TextBox 10"/>
          <p:cNvSpPr txBox="1"/>
          <p:nvPr/>
        </p:nvSpPr>
        <p:spPr>
          <a:xfrm>
            <a:off x="8046720" y="2432304"/>
            <a:ext cx="3154680" cy="1463040"/>
          </a:xfrm>
          <a:prstGeom prst="rect">
            <a:avLst/>
          </a:prstGeom>
          <a:noFill/>
        </p:spPr>
        <p:txBody>
          <a:bodyPr wrap="square" lIns="0" rIns="0" tIns="0" bIns="0" anchor="t">
            <a:spAutoFit/>
          </a:bodyPr>
          <a:lstStyle/>
          <a:p>
            <a:pPr algn="l">
              <a:lnSpc>
                <a:spcPct val="130000"/>
              </a:lnSpc>
            </a:pPr>
            <a:r>
              <a:rPr sz="1150" b="0" i="0">
                <a:solidFill>
                  <a:srgbClr val="4B5563"/>
                </a:solidFill>
                <a:latin typeface="Segoe UI"/>
              </a:rPr>
              <a:t>Cara absen berbeda antara hari kantor dan hari WFH. Bila hari ini terjadwal di kantor tetapi Anda perlu bekerja dari rumah, mintalah atasan mengubah jadwal hari itu lebih dulu.</a:t>
            </a:r>
          </a:p>
        </p:txBody>
      </p:sp>
      <p:sp>
        <p:nvSpPr>
          <p:cNvPr id="12" name="Rounded Rectangle 11"/>
          <p:cNvSpPr/>
          <p:nvPr/>
        </p:nvSpPr>
        <p:spPr>
          <a:xfrm>
            <a:off x="7726679" y="4224528"/>
            <a:ext cx="3703320" cy="1444752"/>
          </a:xfrm>
          <a:prstGeom prst="roundRect">
            <a:avLst>
              <a:gd name="adj" fmla="val 3500"/>
            </a:avLst>
          </a:prstGeom>
          <a:solidFill>
            <a:srgbClr val="ECFDF5"/>
          </a:solidFill>
          <a:ln>
            <a:no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0" y="4443984"/>
            <a:ext cx="3108960" cy="274320"/>
          </a:xfrm>
          <a:prstGeom prst="rect">
            <a:avLst/>
          </a:prstGeom>
          <a:noFill/>
        </p:spPr>
        <p:txBody>
          <a:bodyPr wrap="square" lIns="0" rIns="0" tIns="0" bIns="0" anchor="t">
            <a:spAutoFit/>
          </a:bodyPr>
          <a:lstStyle/>
          <a:p>
            <a:pPr algn="l">
              <a:lnSpc>
                <a:spcPct val="115000"/>
              </a:lnSpc>
            </a:pPr>
            <a:r>
              <a:rPr sz="1250" b="1" i="0">
                <a:solidFill>
                  <a:srgbClr val="06533D"/>
                </a:solidFill>
                <a:latin typeface="Segoe UI"/>
              </a:rPr>
              <a:t>Siapkan sebelum absen</a:t>
            </a:r>
          </a:p>
        </p:txBody>
      </p:sp>
      <p:sp>
        <p:nvSpPr>
          <p:cNvPr id="14" name="TextBox 13"/>
          <p:cNvSpPr txBox="1"/>
          <p:nvPr/>
        </p:nvSpPr>
        <p:spPr>
          <a:xfrm>
            <a:off x="8046720" y="4791456"/>
            <a:ext cx="3154680" cy="731520"/>
          </a:xfrm>
          <a:prstGeom prst="rect">
            <a:avLst/>
          </a:prstGeom>
          <a:noFill/>
        </p:spPr>
        <p:txBody>
          <a:bodyPr wrap="square" lIns="0" rIns="0" tIns="0" bIns="0" anchor="t">
            <a:spAutoFit/>
          </a:bodyPr>
          <a:lstStyle/>
          <a:p>
            <a:pPr algn="l">
              <a:lnSpc>
                <a:spcPct val="130000"/>
              </a:lnSpc>
            </a:pPr>
            <a:r>
              <a:rPr sz="1150" b="0" i="0">
                <a:solidFill>
                  <a:srgbClr val="06533D"/>
                </a:solidFill>
                <a:latin typeface="Segoe UI"/>
              </a:rPr>
              <a:t>Kamera aktif untuk selfie, izin lokasi di browser diizinkan, dan koneksi internet stabil.</a:t>
            </a:r>
          </a:p>
        </p:txBody>
      </p:sp>
      <p:sp>
        <p:nvSpPr>
          <p:cNvPr id="15" name="TextBox 14"/>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IV · Absen Saat WFH</a:t>
            </a:r>
          </a:p>
        </p:txBody>
      </p:sp>
      <p:sp>
        <p:nvSpPr>
          <p:cNvPr id="16" name="TextBox 15"/>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059669"/>
                </a:solidFill>
                <a:latin typeface="Segoe UI"/>
              </a:rPr>
              <a:t>BAGIAN IV · LANGKAH 2</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Absen masuk dan pulang dari rumah</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Self-service › Absensi Saya. Panel hijau di atas hanya muncul pada hari WFH.</a:t>
            </a:r>
          </a:p>
        </p:txBody>
      </p:sp>
      <p:sp>
        <p:nvSpPr>
          <p:cNvPr id="7" name="Oval 6"/>
          <p:cNvSpPr/>
          <p:nvPr/>
        </p:nvSpPr>
        <p:spPr>
          <a:xfrm>
            <a:off x="749808" y="1783080"/>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1</a:t>
            </a:r>
          </a:p>
        </p:txBody>
      </p:sp>
      <p:sp>
        <p:nvSpPr>
          <p:cNvPr id="8" name="TextBox 7"/>
          <p:cNvSpPr txBox="1"/>
          <p:nvPr/>
        </p:nvSpPr>
        <p:spPr>
          <a:xfrm>
            <a:off x="1225296" y="1764792"/>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Klik Absen Masuk</a:t>
            </a:r>
          </a:p>
        </p:txBody>
      </p:sp>
      <p:sp>
        <p:nvSpPr>
          <p:cNvPr id="9" name="TextBox 8"/>
          <p:cNvSpPr txBox="1"/>
          <p:nvPr/>
        </p:nvSpPr>
        <p:spPr>
          <a:xfrm>
            <a:off x="1225296" y="2020824"/>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Di awal jam kerja, seperti biasa Anda datang ke kantor.</a:t>
            </a:r>
          </a:p>
        </p:txBody>
      </p:sp>
      <p:sp>
        <p:nvSpPr>
          <p:cNvPr id="10" name="Oval 9"/>
          <p:cNvSpPr/>
          <p:nvPr/>
        </p:nvSpPr>
        <p:spPr>
          <a:xfrm>
            <a:off x="749808" y="2624328"/>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2</a:t>
            </a:r>
          </a:p>
        </p:txBody>
      </p:sp>
      <p:sp>
        <p:nvSpPr>
          <p:cNvPr id="11" name="TextBox 10"/>
          <p:cNvSpPr txBox="1"/>
          <p:nvPr/>
        </p:nvSpPr>
        <p:spPr>
          <a:xfrm>
            <a:off x="1225296" y="2606040"/>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Izinkan kamera dan lokasi</a:t>
            </a:r>
          </a:p>
        </p:txBody>
      </p:sp>
      <p:sp>
        <p:nvSpPr>
          <p:cNvPr id="12" name="TextBox 11"/>
          <p:cNvSpPr txBox="1"/>
          <p:nvPr/>
        </p:nvSpPr>
        <p:spPr>
          <a:xfrm>
            <a:off x="1225296" y="2862072"/>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Selfie dan titik lokasi menjadi bukti kehadiran.</a:t>
            </a:r>
          </a:p>
        </p:txBody>
      </p:sp>
      <p:sp>
        <p:nvSpPr>
          <p:cNvPr id="13" name="Oval 12"/>
          <p:cNvSpPr/>
          <p:nvPr/>
        </p:nvSpPr>
        <p:spPr>
          <a:xfrm>
            <a:off x="749808" y="3465576"/>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3</a:t>
            </a:r>
          </a:p>
        </p:txBody>
      </p:sp>
      <p:sp>
        <p:nvSpPr>
          <p:cNvPr id="14" name="TextBox 13"/>
          <p:cNvSpPr txBox="1"/>
          <p:nvPr/>
        </p:nvSpPr>
        <p:spPr>
          <a:xfrm>
            <a:off x="1225296" y="3447288"/>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Bekerja seperti biasa</a:t>
            </a:r>
          </a:p>
        </p:txBody>
      </p:sp>
      <p:sp>
        <p:nvSpPr>
          <p:cNvPr id="15" name="TextBox 14"/>
          <p:cNvSpPr txBox="1"/>
          <p:nvPr/>
        </p:nvSpPr>
        <p:spPr>
          <a:xfrm>
            <a:off x="1225296" y="3703320"/>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Telat dan lembur dihitung dari shift yang sama.</a:t>
            </a:r>
          </a:p>
        </p:txBody>
      </p:sp>
      <p:sp>
        <p:nvSpPr>
          <p:cNvPr id="16" name="Oval 15"/>
          <p:cNvSpPr/>
          <p:nvPr/>
        </p:nvSpPr>
        <p:spPr>
          <a:xfrm>
            <a:off x="749808" y="4306824"/>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4</a:t>
            </a:r>
          </a:p>
        </p:txBody>
      </p:sp>
      <p:sp>
        <p:nvSpPr>
          <p:cNvPr id="17" name="TextBox 16"/>
          <p:cNvSpPr txBox="1"/>
          <p:nvPr/>
        </p:nvSpPr>
        <p:spPr>
          <a:xfrm>
            <a:off x="1225296" y="4288536"/>
            <a:ext cx="3090672" cy="274320"/>
          </a:xfrm>
          <a:prstGeom prst="rect">
            <a:avLst/>
          </a:prstGeom>
          <a:noFill/>
        </p:spPr>
        <p:txBody>
          <a:bodyPr wrap="square" lIns="0" rIns="0" tIns="0" bIns="0" anchor="t">
            <a:spAutoFit/>
          </a:bodyPr>
          <a:lstStyle/>
          <a:p>
            <a:pPr algn="l">
              <a:lnSpc>
                <a:spcPct val="115000"/>
              </a:lnSpc>
            </a:pPr>
            <a:r>
              <a:rPr sz="1350" b="1" i="0">
                <a:solidFill>
                  <a:srgbClr val="0B1220"/>
                </a:solidFill>
                <a:latin typeface="Segoe UI"/>
              </a:rPr>
              <a:t>Klik Absen Pulang</a:t>
            </a:r>
          </a:p>
        </p:txBody>
      </p:sp>
      <p:sp>
        <p:nvSpPr>
          <p:cNvPr id="18" name="TextBox 17"/>
          <p:cNvSpPr txBox="1"/>
          <p:nvPr/>
        </p:nvSpPr>
        <p:spPr>
          <a:xfrm>
            <a:off x="1225296" y="4544568"/>
            <a:ext cx="3090672" cy="548640"/>
          </a:xfrm>
          <a:prstGeom prst="rect">
            <a:avLst/>
          </a:prstGeom>
          <a:noFill/>
        </p:spPr>
        <p:txBody>
          <a:bodyPr wrap="square" lIns="0" rIns="0" tIns="0" bIns="0" anchor="t">
            <a:spAutoFit/>
          </a:bodyPr>
          <a:lstStyle/>
          <a:p>
            <a:pPr algn="l">
              <a:lnSpc>
                <a:spcPct val="125000"/>
              </a:lnSpc>
            </a:pPr>
            <a:r>
              <a:rPr sz="1150" b="0" i="0">
                <a:solidFill>
                  <a:srgbClr val="4B5563"/>
                </a:solidFill>
                <a:latin typeface="Segoe UI"/>
              </a:rPr>
              <a:t>Jangan lupa — jam pulang yang kosong tercatat sebagai tidak lengkap.</a:t>
            </a:r>
          </a:p>
        </p:txBody>
      </p:sp>
      <p:sp>
        <p:nvSpPr>
          <p:cNvPr id="19" name="Rounded Rectangle 18"/>
          <p:cNvSpPr/>
          <p:nvPr/>
        </p:nvSpPr>
        <p:spPr>
          <a:xfrm>
            <a:off x="4658868" y="1732788"/>
            <a:ext cx="6821424" cy="3966657"/>
          </a:xfrm>
          <a:prstGeom prst="roundRect">
            <a:avLst>
              <a:gd name="adj" fmla="val 2000"/>
            </a:avLst>
          </a:prstGeom>
          <a:solidFill>
            <a:srgbClr val="FFFFFF"/>
          </a:solidFill>
          <a:ln w="12700">
            <a:solidFill>
              <a:srgbClr val="E2E8F0"/>
            </a:solidFill>
          </a:ln>
          <a:effectLst>
            <a:outerShdw blurRad="431800" dist="127000" dir="5400000" rotWithShape="0">
              <a:srgbClr val="0B122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9-absensi-wfh.png"/>
          <p:cNvPicPr>
            <a:picLocks noChangeAspect="1"/>
          </p:cNvPicPr>
          <p:nvPr/>
        </p:nvPicPr>
        <p:blipFill>
          <a:blip r:embed="rId2"/>
          <a:srcRect l="15467" b="30000"/>
          <a:stretch>
            <a:fillRect/>
          </a:stretch>
        </p:blipFill>
        <p:spPr>
          <a:xfrm>
            <a:off x="4709160" y="1783080"/>
            <a:ext cx="6720840" cy="3866073"/>
          </a:xfrm>
          <a:prstGeom prst="rect">
            <a:avLst/>
          </a:prstGeom>
        </p:spPr>
      </p:pic>
      <p:sp>
        <p:nvSpPr>
          <p:cNvPr id="21" name="TextBox 20"/>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Bagian IV · Absen Saat WFH</a:t>
            </a:r>
          </a:p>
        </p:txBody>
      </p:sp>
      <p:sp>
        <p:nvSpPr>
          <p:cNvPr id="22" name="TextBox 21"/>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75488"/>
            <a:ext cx="50292"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457200"/>
            <a:ext cx="8229600" cy="201168"/>
          </a:xfrm>
          <a:prstGeom prst="rect">
            <a:avLst/>
          </a:prstGeom>
          <a:noFill/>
        </p:spPr>
        <p:txBody>
          <a:bodyPr wrap="square" lIns="0" rIns="0" tIns="0" bIns="0" anchor="t">
            <a:spAutoFit/>
          </a:bodyPr>
          <a:lstStyle/>
          <a:p>
            <a:pPr algn="l">
              <a:lnSpc>
                <a:spcPct val="115000"/>
              </a:lnSpc>
            </a:pPr>
            <a:r>
              <a:rPr sz="1000" b="1" i="0">
                <a:solidFill>
                  <a:srgbClr val="0B1220"/>
                </a:solidFill>
                <a:latin typeface="Segoe UI"/>
              </a:rPr>
              <a:t>PENUTUP</a:t>
            </a:r>
          </a:p>
        </p:txBody>
      </p:sp>
      <p:sp>
        <p:nvSpPr>
          <p:cNvPr id="5" name="TextBox 4"/>
          <p:cNvSpPr txBox="1"/>
          <p:nvPr/>
        </p:nvSpPr>
        <p:spPr>
          <a:xfrm>
            <a:off x="749808" y="676656"/>
            <a:ext cx="10058400" cy="384048"/>
          </a:xfrm>
          <a:prstGeom prst="rect">
            <a:avLst/>
          </a:prstGeom>
          <a:noFill/>
        </p:spPr>
        <p:txBody>
          <a:bodyPr wrap="square" lIns="0" rIns="0" tIns="0" bIns="0" anchor="t">
            <a:spAutoFit/>
          </a:bodyPr>
          <a:lstStyle/>
          <a:p>
            <a:pPr algn="l">
              <a:lnSpc>
                <a:spcPct val="115000"/>
              </a:lnSpc>
            </a:pPr>
            <a:r>
              <a:rPr sz="2500" b="1" i="0">
                <a:solidFill>
                  <a:srgbClr val="0B1220"/>
                </a:solidFill>
                <a:latin typeface="Segoe UI"/>
              </a:rPr>
              <a:t>Ringkasan satu halaman</a:t>
            </a:r>
          </a:p>
        </p:txBody>
      </p:sp>
      <p:sp>
        <p:nvSpPr>
          <p:cNvPr id="6" name="TextBox 5"/>
          <p:cNvSpPr txBox="1"/>
          <p:nvPr/>
        </p:nvSpPr>
        <p:spPr>
          <a:xfrm>
            <a:off x="749808" y="1088136"/>
            <a:ext cx="10424160" cy="274320"/>
          </a:xfrm>
          <a:prstGeom prst="rect">
            <a:avLst/>
          </a:prstGeom>
          <a:noFill/>
        </p:spPr>
        <p:txBody>
          <a:bodyPr wrap="square" lIns="0" rIns="0" tIns="0" bIns="0" anchor="t">
            <a:spAutoFit/>
          </a:bodyPr>
          <a:lstStyle/>
          <a:p>
            <a:pPr algn="l">
              <a:lnSpc>
                <a:spcPct val="115000"/>
              </a:lnSpc>
            </a:pPr>
            <a:r>
              <a:rPr sz="1250" b="0" i="0">
                <a:solidFill>
                  <a:srgbClr val="4B5563"/>
                </a:solidFill>
                <a:latin typeface="Segoe UI"/>
              </a:rPr>
              <a:t>Tempel di dekat meja, atau simpan sebagai catatan cepat.</a:t>
            </a:r>
          </a:p>
        </p:txBody>
      </p:sp>
      <p:sp>
        <p:nvSpPr>
          <p:cNvPr id="7" name="Rounded Rectangle 6"/>
          <p:cNvSpPr/>
          <p:nvPr/>
        </p:nvSpPr>
        <p:spPr>
          <a:xfrm>
            <a:off x="749808" y="1783080"/>
            <a:ext cx="2542032" cy="36576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24128" y="2029968"/>
            <a:ext cx="457200" cy="5486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67712"/>
            <a:ext cx="2011680" cy="548640"/>
          </a:xfrm>
          <a:prstGeom prst="rect">
            <a:avLst/>
          </a:prstGeom>
          <a:noFill/>
        </p:spPr>
        <p:txBody>
          <a:bodyPr wrap="square" lIns="0" rIns="0" tIns="0" bIns="0" anchor="t">
            <a:spAutoFit/>
          </a:bodyPr>
          <a:lstStyle/>
          <a:p>
            <a:pPr algn="l">
              <a:lnSpc>
                <a:spcPct val="115000"/>
              </a:lnSpc>
            </a:pPr>
            <a:r>
              <a:rPr sz="1500" b="1" i="0">
                <a:solidFill>
                  <a:srgbClr val="0B1220"/>
                </a:solidFill>
                <a:latin typeface="Segoe UI"/>
              </a:rPr>
              <a:t>Menyusun jadwal</a:t>
            </a:r>
          </a:p>
        </p:txBody>
      </p:sp>
      <p:sp>
        <p:nvSpPr>
          <p:cNvPr id="10" name="TextBox 9"/>
          <p:cNvSpPr txBox="1"/>
          <p:nvPr/>
        </p:nvSpPr>
        <p:spPr>
          <a:xfrm>
            <a:off x="1024128" y="2761488"/>
            <a:ext cx="2103120" cy="457200"/>
          </a:xfrm>
          <a:prstGeom prst="rect">
            <a:avLst/>
          </a:prstGeom>
          <a:noFill/>
        </p:spPr>
        <p:txBody>
          <a:bodyPr wrap="square" lIns="0" rIns="0" tIns="0" bIns="0" anchor="t">
            <a:spAutoFit/>
          </a:bodyPr>
          <a:lstStyle/>
          <a:p>
            <a:pPr algn="l">
              <a:lnSpc>
                <a:spcPct val="120000"/>
              </a:lnSpc>
            </a:pPr>
            <a:r>
              <a:rPr sz="1000" b="1" i="0">
                <a:solidFill>
                  <a:srgbClr val="4F46E5"/>
                </a:solidFill>
                <a:latin typeface="Segoe UI"/>
              </a:rPr>
              <a:t>Penjadwalan › Pola Jadwal</a:t>
            </a:r>
          </a:p>
        </p:txBody>
      </p:sp>
      <p:sp>
        <p:nvSpPr>
          <p:cNvPr id="11" name="Oval 10"/>
          <p:cNvSpPr/>
          <p:nvPr/>
        </p:nvSpPr>
        <p:spPr>
          <a:xfrm>
            <a:off x="1042416" y="3383280"/>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3291840"/>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Buat pola sekali, pakai berulang</a:t>
            </a:r>
          </a:p>
        </p:txBody>
      </p:sp>
      <p:sp>
        <p:nvSpPr>
          <p:cNvPr id="13" name="Oval 12"/>
          <p:cNvSpPr/>
          <p:nvPr/>
        </p:nvSpPr>
        <p:spPr>
          <a:xfrm>
            <a:off x="1042416" y="4041648"/>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3950208"/>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Centang WFH pada hari yang dimaksud</a:t>
            </a:r>
          </a:p>
        </p:txBody>
      </p:sp>
      <p:sp>
        <p:nvSpPr>
          <p:cNvPr id="15" name="Oval 14"/>
          <p:cNvSpPr/>
          <p:nvPr/>
        </p:nvSpPr>
        <p:spPr>
          <a:xfrm>
            <a:off x="1042416" y="4700016"/>
            <a:ext cx="82296" cy="822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4608576"/>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Tugaskan ke tim, roster terbentuk</a:t>
            </a:r>
          </a:p>
        </p:txBody>
      </p:sp>
      <p:sp>
        <p:nvSpPr>
          <p:cNvPr id="17" name="Rounded Rectangle 16"/>
          <p:cNvSpPr/>
          <p:nvPr/>
        </p:nvSpPr>
        <p:spPr>
          <a:xfrm>
            <a:off x="3493008" y="1783080"/>
            <a:ext cx="2542032" cy="36576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767328" y="2029968"/>
            <a:ext cx="457200" cy="5486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8" y="2267712"/>
            <a:ext cx="2011680" cy="548640"/>
          </a:xfrm>
          <a:prstGeom prst="rect">
            <a:avLst/>
          </a:prstGeom>
          <a:noFill/>
        </p:spPr>
        <p:txBody>
          <a:bodyPr wrap="square" lIns="0" rIns="0" tIns="0" bIns="0" anchor="t">
            <a:spAutoFit/>
          </a:bodyPr>
          <a:lstStyle/>
          <a:p>
            <a:pPr algn="l">
              <a:lnSpc>
                <a:spcPct val="115000"/>
              </a:lnSpc>
            </a:pPr>
            <a:r>
              <a:rPr sz="1500" b="1" i="0">
                <a:solidFill>
                  <a:srgbClr val="0B1220"/>
                </a:solidFill>
                <a:latin typeface="Segoe UI"/>
              </a:rPr>
              <a:t>Mengajukan cuti</a:t>
            </a:r>
          </a:p>
        </p:txBody>
      </p:sp>
      <p:sp>
        <p:nvSpPr>
          <p:cNvPr id="20" name="TextBox 19"/>
          <p:cNvSpPr txBox="1"/>
          <p:nvPr/>
        </p:nvSpPr>
        <p:spPr>
          <a:xfrm>
            <a:off x="3767328" y="2761488"/>
            <a:ext cx="2103120" cy="457200"/>
          </a:xfrm>
          <a:prstGeom prst="rect">
            <a:avLst/>
          </a:prstGeom>
          <a:noFill/>
        </p:spPr>
        <p:txBody>
          <a:bodyPr wrap="square" lIns="0" rIns="0" tIns="0" bIns="0" anchor="t">
            <a:spAutoFit/>
          </a:bodyPr>
          <a:lstStyle/>
          <a:p>
            <a:pPr algn="l">
              <a:lnSpc>
                <a:spcPct val="120000"/>
              </a:lnSpc>
            </a:pPr>
            <a:r>
              <a:rPr sz="1000" b="1" i="0">
                <a:solidFill>
                  <a:srgbClr val="D97706"/>
                </a:solidFill>
                <a:latin typeface="Segoe UI"/>
              </a:rPr>
              <a:t>Self-service › Cuti Saya</a:t>
            </a:r>
          </a:p>
        </p:txBody>
      </p:sp>
      <p:sp>
        <p:nvSpPr>
          <p:cNvPr id="21" name="Oval 20"/>
          <p:cNvSpPr/>
          <p:nvPr/>
        </p:nvSpPr>
        <p:spPr>
          <a:xfrm>
            <a:off x="3785616" y="3383280"/>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0" y="3291840"/>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Pilih jenis, tanggal, alasan</a:t>
            </a:r>
          </a:p>
        </p:txBody>
      </p:sp>
      <p:sp>
        <p:nvSpPr>
          <p:cNvPr id="23" name="Oval 22"/>
          <p:cNvSpPr/>
          <p:nvPr/>
        </p:nvSpPr>
        <p:spPr>
          <a:xfrm>
            <a:off x="3785616" y="4041648"/>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0" y="3950208"/>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Lampirkan berkas bila diminta</a:t>
            </a:r>
          </a:p>
        </p:txBody>
      </p:sp>
      <p:sp>
        <p:nvSpPr>
          <p:cNvPr id="25" name="Oval 24"/>
          <p:cNvSpPr/>
          <p:nvPr/>
        </p:nvSpPr>
        <p:spPr>
          <a:xfrm>
            <a:off x="3785616" y="4700016"/>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23360" y="4608576"/>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Tetap absen sampai disetujui</a:t>
            </a:r>
          </a:p>
        </p:txBody>
      </p:sp>
      <p:sp>
        <p:nvSpPr>
          <p:cNvPr id="27" name="Rounded Rectangle 26"/>
          <p:cNvSpPr/>
          <p:nvPr/>
        </p:nvSpPr>
        <p:spPr>
          <a:xfrm>
            <a:off x="6236208" y="1783080"/>
            <a:ext cx="2542032" cy="36576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510528" y="2029968"/>
            <a:ext cx="457200" cy="54864"/>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0528" y="2267712"/>
            <a:ext cx="2011680" cy="548640"/>
          </a:xfrm>
          <a:prstGeom prst="rect">
            <a:avLst/>
          </a:prstGeom>
          <a:noFill/>
        </p:spPr>
        <p:txBody>
          <a:bodyPr wrap="square" lIns="0" rIns="0" tIns="0" bIns="0" anchor="t">
            <a:spAutoFit/>
          </a:bodyPr>
          <a:lstStyle/>
          <a:p>
            <a:pPr algn="l">
              <a:lnSpc>
                <a:spcPct val="115000"/>
              </a:lnSpc>
            </a:pPr>
            <a:r>
              <a:rPr sz="1500" b="1" i="0">
                <a:solidFill>
                  <a:srgbClr val="0B1220"/>
                </a:solidFill>
                <a:latin typeface="Segoe UI"/>
              </a:rPr>
              <a:t>Menyetujui cuti</a:t>
            </a:r>
          </a:p>
        </p:txBody>
      </p:sp>
      <p:sp>
        <p:nvSpPr>
          <p:cNvPr id="30" name="TextBox 29"/>
          <p:cNvSpPr txBox="1"/>
          <p:nvPr/>
        </p:nvSpPr>
        <p:spPr>
          <a:xfrm>
            <a:off x="6510528" y="2761488"/>
            <a:ext cx="2103120" cy="457200"/>
          </a:xfrm>
          <a:prstGeom prst="rect">
            <a:avLst/>
          </a:prstGeom>
          <a:noFill/>
        </p:spPr>
        <p:txBody>
          <a:bodyPr wrap="square" lIns="0" rIns="0" tIns="0" bIns="0" anchor="t">
            <a:spAutoFit/>
          </a:bodyPr>
          <a:lstStyle/>
          <a:p>
            <a:pPr algn="l">
              <a:lnSpc>
                <a:spcPct val="120000"/>
              </a:lnSpc>
            </a:pPr>
            <a:r>
              <a:rPr sz="1000" b="1" i="0">
                <a:solidFill>
                  <a:srgbClr val="0284C7"/>
                </a:solidFill>
                <a:latin typeface="Segoe UI"/>
              </a:rPr>
              <a:t>Self-service › Cuti Saya</a:t>
            </a:r>
          </a:p>
        </p:txBody>
      </p:sp>
      <p:sp>
        <p:nvSpPr>
          <p:cNvPr id="31" name="Oval 30"/>
          <p:cNvSpPr/>
          <p:nvPr/>
        </p:nvSpPr>
        <p:spPr>
          <a:xfrm>
            <a:off x="6528816" y="3383280"/>
            <a:ext cx="82296" cy="822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3291840"/>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Panel kuning = menunggu Anda</a:t>
            </a:r>
          </a:p>
        </p:txBody>
      </p:sp>
      <p:sp>
        <p:nvSpPr>
          <p:cNvPr id="33" name="Oval 32"/>
          <p:cNvSpPr/>
          <p:nvPr/>
        </p:nvSpPr>
        <p:spPr>
          <a:xfrm>
            <a:off x="6528816" y="4041648"/>
            <a:ext cx="82296" cy="822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0" y="3950208"/>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Periksa tabrakan jadwal tim</a:t>
            </a:r>
          </a:p>
        </p:txBody>
      </p:sp>
      <p:sp>
        <p:nvSpPr>
          <p:cNvPr id="35" name="Oval 34"/>
          <p:cNvSpPr/>
          <p:nvPr/>
        </p:nvSpPr>
        <p:spPr>
          <a:xfrm>
            <a:off x="6528816" y="4700016"/>
            <a:ext cx="82296" cy="822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0" y="4608576"/>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Setujui atau tolak dari menu aksi</a:t>
            </a:r>
          </a:p>
        </p:txBody>
      </p:sp>
      <p:sp>
        <p:nvSpPr>
          <p:cNvPr id="37" name="Rounded Rectangle 36"/>
          <p:cNvSpPr/>
          <p:nvPr/>
        </p:nvSpPr>
        <p:spPr>
          <a:xfrm>
            <a:off x="8979408" y="1783080"/>
            <a:ext cx="2542032" cy="3657600"/>
          </a:xfrm>
          <a:prstGeom prst="roundRect">
            <a:avLst>
              <a:gd name="adj" fmla="val 3500"/>
            </a:avLst>
          </a:prstGeom>
          <a:solidFill>
            <a:srgbClr val="FFFFFF"/>
          </a:solidFill>
          <a:ln w="12700">
            <a:solidFill>
              <a:srgbClr val="E2E8F0"/>
            </a:solidFill>
          </a:ln>
          <a:effectLst>
            <a:outerShdw blurRad="355600" dist="101600" dir="5400000" rotWithShape="0">
              <a:srgbClr val="0B122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9253728" y="2029968"/>
            <a:ext cx="457200"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3728" y="2267712"/>
            <a:ext cx="2011680" cy="548640"/>
          </a:xfrm>
          <a:prstGeom prst="rect">
            <a:avLst/>
          </a:prstGeom>
          <a:noFill/>
        </p:spPr>
        <p:txBody>
          <a:bodyPr wrap="square" lIns="0" rIns="0" tIns="0" bIns="0" anchor="t">
            <a:spAutoFit/>
          </a:bodyPr>
          <a:lstStyle/>
          <a:p>
            <a:pPr algn="l">
              <a:lnSpc>
                <a:spcPct val="115000"/>
              </a:lnSpc>
            </a:pPr>
            <a:r>
              <a:rPr sz="1500" b="1" i="0">
                <a:solidFill>
                  <a:srgbClr val="0B1220"/>
                </a:solidFill>
                <a:latin typeface="Segoe UI"/>
              </a:rPr>
              <a:t>Absen saat WFH</a:t>
            </a:r>
          </a:p>
        </p:txBody>
      </p:sp>
      <p:sp>
        <p:nvSpPr>
          <p:cNvPr id="40" name="TextBox 39"/>
          <p:cNvSpPr txBox="1"/>
          <p:nvPr/>
        </p:nvSpPr>
        <p:spPr>
          <a:xfrm>
            <a:off x="9253728" y="2761488"/>
            <a:ext cx="2103120" cy="457200"/>
          </a:xfrm>
          <a:prstGeom prst="rect">
            <a:avLst/>
          </a:prstGeom>
          <a:noFill/>
        </p:spPr>
        <p:txBody>
          <a:bodyPr wrap="square" lIns="0" rIns="0" tIns="0" bIns="0" anchor="t">
            <a:spAutoFit/>
          </a:bodyPr>
          <a:lstStyle/>
          <a:p>
            <a:pPr algn="l">
              <a:lnSpc>
                <a:spcPct val="120000"/>
              </a:lnSpc>
            </a:pPr>
            <a:r>
              <a:rPr sz="1000" b="1" i="0">
                <a:solidFill>
                  <a:srgbClr val="059669"/>
                </a:solidFill>
                <a:latin typeface="Segoe UI"/>
              </a:rPr>
              <a:t>Self-service › Absensi Saya</a:t>
            </a:r>
          </a:p>
        </p:txBody>
      </p:sp>
      <p:sp>
        <p:nvSpPr>
          <p:cNvPr id="41" name="Oval 40"/>
          <p:cNvSpPr/>
          <p:nvPr/>
        </p:nvSpPr>
        <p:spPr>
          <a:xfrm>
            <a:off x="9272016" y="3383280"/>
            <a:ext cx="82296" cy="822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09760" y="3291840"/>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Pastikan hari ini terjadwal WFH</a:t>
            </a:r>
          </a:p>
        </p:txBody>
      </p:sp>
      <p:sp>
        <p:nvSpPr>
          <p:cNvPr id="43" name="Oval 42"/>
          <p:cNvSpPr/>
          <p:nvPr/>
        </p:nvSpPr>
        <p:spPr>
          <a:xfrm>
            <a:off x="9272016" y="4041648"/>
            <a:ext cx="82296" cy="822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09760" y="3950208"/>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Absen masuk + selfie + lokasi</a:t>
            </a:r>
          </a:p>
        </p:txBody>
      </p:sp>
      <p:sp>
        <p:nvSpPr>
          <p:cNvPr id="45" name="Oval 44"/>
          <p:cNvSpPr/>
          <p:nvPr/>
        </p:nvSpPr>
        <p:spPr>
          <a:xfrm>
            <a:off x="9272016" y="4700016"/>
            <a:ext cx="82296" cy="822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09760" y="4608576"/>
            <a:ext cx="1783080" cy="603504"/>
          </a:xfrm>
          <a:prstGeom prst="rect">
            <a:avLst/>
          </a:prstGeom>
          <a:noFill/>
        </p:spPr>
        <p:txBody>
          <a:bodyPr wrap="square" lIns="0" rIns="0" tIns="0" bIns="0" anchor="t">
            <a:spAutoFit/>
          </a:bodyPr>
          <a:lstStyle/>
          <a:p>
            <a:pPr algn="l">
              <a:lnSpc>
                <a:spcPct val="125000"/>
              </a:lnSpc>
            </a:pPr>
            <a:r>
              <a:rPr sz="1050" b="0" i="0">
                <a:solidFill>
                  <a:srgbClr val="4B5563"/>
                </a:solidFill>
                <a:latin typeface="Segoe UI"/>
              </a:rPr>
              <a:t>Jangan lupa absen pulang</a:t>
            </a:r>
          </a:p>
        </p:txBody>
      </p:sp>
      <p:sp>
        <p:nvSpPr>
          <p:cNvPr id="47" name="TextBox 46"/>
          <p:cNvSpPr txBox="1"/>
          <p:nvPr/>
        </p:nvSpPr>
        <p:spPr>
          <a:xfrm>
            <a:off x="749808" y="5715000"/>
            <a:ext cx="10424160" cy="274320"/>
          </a:xfrm>
          <a:prstGeom prst="rect">
            <a:avLst/>
          </a:prstGeom>
          <a:noFill/>
        </p:spPr>
        <p:txBody>
          <a:bodyPr wrap="square" lIns="0" rIns="0" tIns="0" bIns="0" anchor="t">
            <a:spAutoFit/>
          </a:bodyPr>
          <a:lstStyle/>
          <a:p>
            <a:pPr algn="ctr">
              <a:lnSpc>
                <a:spcPct val="115000"/>
              </a:lnSpc>
            </a:pPr>
            <a:r>
              <a:rPr sz="1150" b="0" i="0">
                <a:solidFill>
                  <a:srgbClr val="94A3B8"/>
                </a:solidFill>
                <a:latin typeface="Segoe UI"/>
              </a:rPr>
              <a:t>Bila jadwal, cuti, atau absensi Anda terlihat tidak sesuai, hubungi atasan langsung lebih dulu — sebagian besar persoalan selesai dengan satu perubahan jadwal.</a:t>
            </a:r>
          </a:p>
        </p:txBody>
      </p:sp>
      <p:sp>
        <p:nvSpPr>
          <p:cNvPr id="48" name="TextBox 47"/>
          <p:cNvSpPr txBox="1"/>
          <p:nvPr/>
        </p:nvSpPr>
        <p:spPr>
          <a:xfrm>
            <a:off x="603504" y="6382512"/>
            <a:ext cx="7315200" cy="219456"/>
          </a:xfrm>
          <a:prstGeom prst="rect">
            <a:avLst/>
          </a:prstGeom>
          <a:noFill/>
        </p:spPr>
        <p:txBody>
          <a:bodyPr wrap="square" lIns="0" rIns="0" tIns="0" bIns="0" anchor="t">
            <a:spAutoFit/>
          </a:bodyPr>
          <a:lstStyle/>
          <a:p>
            <a:pPr algn="l">
              <a:lnSpc>
                <a:spcPct val="115000"/>
              </a:lnSpc>
            </a:pPr>
            <a:r>
              <a:rPr sz="950" b="0" i="0">
                <a:solidFill>
                  <a:srgbClr val="94A3B8"/>
                </a:solidFill>
                <a:latin typeface="Segoe UI"/>
              </a:rPr>
              <a:t>Panduan Pengguna HRIS · Jadwal, Cuti &amp; Absensi WFH</a:t>
            </a:r>
          </a:p>
        </p:txBody>
      </p:sp>
      <p:sp>
        <p:nvSpPr>
          <p:cNvPr id="49" name="TextBox 48"/>
          <p:cNvSpPr txBox="1"/>
          <p:nvPr/>
        </p:nvSpPr>
        <p:spPr>
          <a:xfrm>
            <a:off x="11002975" y="6382512"/>
            <a:ext cx="640080" cy="219456"/>
          </a:xfrm>
          <a:prstGeom prst="rect">
            <a:avLst/>
          </a:prstGeom>
          <a:noFill/>
        </p:spPr>
        <p:txBody>
          <a:bodyPr wrap="square" lIns="0" rIns="0" tIns="0" bIns="0" anchor="t">
            <a:spAutoFit/>
          </a:bodyPr>
          <a:lstStyle/>
          <a:p>
            <a:pPr algn="r">
              <a:lnSpc>
                <a:spcPct val="115000"/>
              </a:lnSpc>
            </a:pPr>
            <a:r>
              <a:rPr sz="950" b="0" i="0">
                <a:solidFill>
                  <a:srgbClr val="94A3B8"/>
                </a:solidFill>
                <a:latin typeface="Segoe U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