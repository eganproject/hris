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384048" cy="384048"/>
          </a:xfrm>
          <a:prstGeom prst="round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Cahaya Optima Karya</a:t>
            </a:r>
          </a:p>
          <a:p>
            <a:pPr algn="l">
              <a:lnSpc>
                <a:spcPct val="116000"/>
              </a:lnSpc>
            </a:pPr>
            <a:r>
              <a:rPr sz="850" b="0" spc="140">
                <a:solidFill>
                  <a:srgbClr val="8FA8AE"/>
                </a:solidFill>
                <a:latin typeface="Segoe UI"/>
              </a:rPr>
              <a:t>HUMAN RESOURCE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00">
                <a:solidFill>
                  <a:srgbClr val="5EB9C4"/>
                </a:solidFill>
                <a:latin typeface="Segoe UI"/>
              </a:rPr>
              <a:t>RINGKASAN APLIKASI · EDISI AGUSTUS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Mengenal Sistem HRIS</a:t>
            </a:r>
          </a:p>
          <a:p>
            <a:pPr algn="l">
              <a:lnSpc>
                <a:spcPct val="98000"/>
              </a:lnSpc>
            </a:pPr>
            <a:r>
              <a:rPr sz="4600" b="1">
                <a:solidFill>
                  <a:srgbClr val="5EB9C4"/>
                </a:solidFill>
                <a:latin typeface="Segoe UI"/>
              </a:rPr>
              <a:t>dalam 30 Menit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590288"/>
            <a:ext cx="1463040" cy="3200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901184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B9C6CD"/>
                </a:solidFill>
                <a:latin typeface="Segoe UI"/>
              </a:rPr>
              <a:t>Alur kerja, menu utama, dan hal-hal yang berjalan otomatis. Versi ringkas dari buku panduan lengkap.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ISI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Yang akan dibahas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Delapan bagian, mengikuti urutan pemakaian aplikasi sehari-hari.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8483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0370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19455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Sekilas aplikasi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Apa yang dikelola dan apa yang berjalan sendiri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5936" y="208483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5936" y="208483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0370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9455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Peran &amp; hak akses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Siapa boleh membuka apa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04495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04495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6382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15467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Empat alur kerja inti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Diagram yang merangkum seluruh sistem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304495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304495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6382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15467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Persiapan awal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Data induk yang disiapkan sekali di awal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0507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00507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12394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11479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Data karyawan &amp; kontrak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Memasukkan orang dan menjaga datanya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5936" y="400507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45936" y="400507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12394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11479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Penjadwalan &amp; absensi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Roster, mesin sidik jari, koreksi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96519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96519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8406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507491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Pengajuan &amp; laporan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Cuti, lembur, tukar jadwal, rekap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5936" y="4965191"/>
            <a:ext cx="5394960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45936" y="4965191"/>
            <a:ext cx="32004" cy="78638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08406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0D5F6B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074919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Untuk karyawan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00" b="0">
                <a:solidFill>
                  <a:srgbClr val="6F7F8C"/>
                </a:solidFill>
                <a:latin typeface="Segoe UI"/>
              </a:rPr>
              <a:t>Self-service lewat ponsel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20">
                <a:solidFill>
                  <a:srgbClr val="5EB9C4"/>
                </a:solidFill>
                <a:latin typeface="Segoe UI"/>
              </a:rP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Sekilas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6CD"/>
                </a:solidFill>
                <a:latin typeface="Segoe UI"/>
              </a:rPr>
              <a:t>Apa yang dikelola HRIS ini, apa yang dikerjakannya sendiri, dan siapa boleh membuka apa.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18527" y="2157984"/>
            <a:ext cx="12700" cy="1152144"/>
          </a:xfrm>
          <a:prstGeom prst="rect">
            <a:avLst/>
          </a:prstGeom>
          <a:solidFill>
            <a:srgbClr val="2C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9423" y="2157984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Yang dikelola aplikasi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9423" y="2542032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Tiga otomatisasi harian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9423" y="292608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Peran &amp; hak akses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SEKILAS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Satu tujuan: kehadiran karyawan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Semua menu lain ada untuk menopang satu hal — siapa dijadwalkan kerja kapan, siapa benar-benar datang, dan apa akibatnya pada rekap bulanan.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487168"/>
            <a:ext cx="3529584" cy="1389888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487168"/>
            <a:ext cx="3529584" cy="41148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4202B"/>
                </a:solidFill>
                <a:latin typeface="Segoe UI"/>
              </a:rPr>
              <a:t>Data induk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90672"/>
            <a:ext cx="30723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Lokasi kerja, divisi, jabatan, shift, hari libur, jenis cuti, pola jadwal.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2487168"/>
            <a:ext cx="3529584" cy="1389888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2487168"/>
            <a:ext cx="3529584" cy="41148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4202B"/>
                </a:solidFill>
                <a:latin typeface="Segoe UI"/>
              </a:rPr>
              <a:t>Karyawan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90672"/>
            <a:ext cx="30723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Data pribadi, penempatan, atasan, kontrak kerja, bagan organisasi.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2487168"/>
            <a:ext cx="3529584" cy="1389888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2487168"/>
            <a:ext cx="3529584" cy="41148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274320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4202B"/>
                </a:solidFill>
                <a:latin typeface="Segoe UI"/>
              </a:rPr>
              <a:t>Penjadwalan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090672"/>
            <a:ext cx="30723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Roster harian per karyawan — otomatis dari pola, manual, atau impor Excel.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114800"/>
            <a:ext cx="3529584" cy="1389888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114800"/>
            <a:ext cx="3529584" cy="41148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370832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4202B"/>
                </a:solidFill>
                <a:latin typeface="Segoe UI"/>
              </a:rPr>
              <a:t>Absensi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18304"/>
            <a:ext cx="30723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Mesin sidik jari, absen mandiri berselfie + GPS, koreksi jam, penutupan harian.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5696" y="4114800"/>
            <a:ext cx="3529584" cy="1389888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5696" y="4114800"/>
            <a:ext cx="3529584" cy="41148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370832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4202B"/>
                </a:solidFill>
                <a:latin typeface="Segoe UI"/>
              </a:rPr>
              <a:t>Pengajuan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718304"/>
            <a:ext cx="30723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Cuti &amp; izin, lembur, tukar jadwal — diajukan karyawan, diputuskan atasan.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4114800"/>
            <a:ext cx="3529584" cy="1389888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4114800"/>
            <a:ext cx="3529584" cy="41148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4370832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4202B"/>
                </a:solidFill>
                <a:latin typeface="Segoe UI"/>
              </a:rPr>
              <a:t>Laporan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718304"/>
            <a:ext cx="30723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Rekap kehadiran, log absensi, rekap cuti. Semuanya bisa diunduh Excel/PDF.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SEKILAS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Tiga hal yang berjalan tanpa ditekan siapa pun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Dikerjakan penjadwal tugas setiap hari. HR hanya perlu memeriksa hasilnya.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340864"/>
            <a:ext cx="10874959" cy="1042415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340864"/>
            <a:ext cx="1371600" cy="1042415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791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00.20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252374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14202B"/>
                </a:solidFill>
                <a:latin typeface="Segoe UI"/>
              </a:rPr>
              <a:t>Roster diperpanjang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862071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Jadwal 60 hari ke depan dibuat ulang dari pola. Karyawan berpola tetap cukup ditugaskan sekali dan jadwalnya tidak pernah habis.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74720"/>
            <a:ext cx="10874959" cy="1042415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74720"/>
            <a:ext cx="1371600" cy="1042415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13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01.30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6576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14202B"/>
                </a:solidFill>
                <a:latin typeface="Segoe UI"/>
              </a:rPr>
              <a:t>Absensi kemarin ditutup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3995927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Yang tidak punya rekaman masuk ditandai Alfa, Cuti, Sakit, atau Libur — sesuai jadwal dan pengajuan yang sudah disetujui.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608576"/>
            <a:ext cx="10874959" cy="1042415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608576"/>
            <a:ext cx="1371600" cy="1042415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46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06.00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791456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14202B"/>
                </a:solidFill>
                <a:latin typeface="Segoe UI"/>
              </a:rPr>
              <a:t>Kontrak diingatkan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5129783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HR diberi tahu untuk kontrak yang berakhir pada H-30, H-14, dan H-7. Yang benar-benar habis dinonaktifkan otomatis pukul 00.05.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815584"/>
            <a:ext cx="10874959" cy="553212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815584"/>
            <a:ext cx="36576" cy="553212"/>
          </a:xfrm>
          <a:prstGeom prst="rect">
            <a:avLst/>
          </a:prstGeom>
          <a:solidFill>
            <a:srgbClr val="8A5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91616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8A5512"/>
                </a:solidFill>
                <a:latin typeface="Segoe UI"/>
              </a:rPr>
              <a:t>SYARATNYA SATU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126480"/>
            <a:ext cx="10509199" cy="187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Semua otomatisasi ini bergantung pada satu baris cron di server. Tanpa itu, seluruhnya harus dikerjakan manual.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PERAN &amp; 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Empat peran bawaan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Yang menentukan isi sidebar bukan jabatan di HR, melainkan peran yang dilekatkan pada akun login.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95728"/>
            <a:ext cx="21579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PERAN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2395728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UNTUK SIAPA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88" y="2395728"/>
            <a:ext cx="6355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BISA APA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33472"/>
            <a:ext cx="10874959" cy="127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724912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14202B"/>
                </a:solidFill>
                <a:latin typeface="Segoe UI"/>
              </a:rPr>
              <a:t>Superadmin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724912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Pemilik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724912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Seluruh menu, termasuk Kontrol Akses. Cukup satu–dua orang.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90672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82112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14202B"/>
                </a:solidFill>
                <a:latin typeface="Segoe UI"/>
              </a:rPr>
              <a:t>HR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182112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HR pusat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3182112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Semua menu operasional + melihat semua lokasi &amp; divisi. Tidak bisa ubah hak akses.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675888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7673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14202B"/>
                </a:solidFill>
                <a:latin typeface="Segoe UI"/>
              </a:rPr>
              <a:t>Employee Reader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76732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3767328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Dashboard dan melihat data karyawan.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133088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224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14202B"/>
                </a:solidFill>
                <a:latin typeface="Segoe UI"/>
              </a:rPr>
              <a:t>Employee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422452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Karyawan biasa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224528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Hanya menu Self-service: jadwal, absensi, cuti, lembur, tukar jadwal.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18304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138928"/>
            <a:ext cx="10874959" cy="740664"/>
          </a:xfrm>
          <a:prstGeom prst="rect">
            <a:avLst/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138928"/>
            <a:ext cx="36576" cy="74066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239512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0D5F6B"/>
                </a:solidFill>
                <a:latin typeface="Segoe UI"/>
              </a:rPr>
              <a:t>CAKUPAN DATA — SAKLAR TERPISAH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449824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Selain daftar menu, tiap akun punya batas data siapa yang boleh dibuka. HR cabang memakai peran HR Manager tanpa centang “semua lokasi”, lalu diberi lokasi cabangnya saja.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20">
                <a:solidFill>
                  <a:srgbClr val="5EB9C4"/>
                </a:solidFill>
                <a:latin typeface="Segoe UI"/>
              </a:rPr>
              <a:t>BAGIAN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Empat Alur Kerja Inti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6CD"/>
                </a:solidFill>
                <a:latin typeface="Segoe UI"/>
              </a:rPr>
              <a:t>Empat diagram yang merangkum hampir seluruh isi buku panduan.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18527" y="2157984"/>
            <a:ext cx="12700" cy="1536192"/>
          </a:xfrm>
          <a:prstGeom prst="rect">
            <a:avLst/>
          </a:prstGeom>
          <a:solidFill>
            <a:srgbClr val="2C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9423" y="2157984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Menyiapkan karyawan baru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9423" y="2542032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Dari tap mesin ke laporan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9423" y="292608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Pengajuan cuti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9423" y="3310128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Bagaimana roster terisi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ALUR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Menyiapkan karyawan baru</a:t>
            </a:r>
          </a:p>
        </p:txBody>
      </p:sp>
      <p:pic>
        <p:nvPicPr>
          <p:cNvPr id="5" name="Picture 4" descr="alur-1-karyawan-ba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10874959" cy="22586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4526357"/>
            <a:ext cx="1371600" cy="127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727525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Urutannya tidak bisa dibalik: lokasi, divisi, dan jabatan harus ada lebih dulu karena ketiganya wajib diisi pada formulir karyawan.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ALUR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Dari tap mesin sampai laporan</a:t>
            </a:r>
          </a:p>
        </p:txBody>
      </p:sp>
      <p:pic>
        <p:nvPicPr>
          <p:cNvPr id="5" name="Picture 4" descr="alur-2-absen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10874959" cy="32938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5561569"/>
            <a:ext cx="1371600" cy="127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762737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Karyawan yang menge-tap statusnya beres seketika. Yang tidak menge-tap baru disimpulkan dini hari berikutnya oleh tugas terjadwal.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ALUR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Pengajuan cuti</a:t>
            </a:r>
          </a:p>
        </p:txBody>
      </p:sp>
      <p:pic>
        <p:nvPicPr>
          <p:cNvPr id="5" name="Picture 4" descr="alur-3-cu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10874959" cy="25932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4860971"/>
            <a:ext cx="1371600" cy="127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062139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Persetujuan satu tahap: keputusan atasan bersifat final dan tidak perlu diteruskan ke HR. Alur yang sama berlaku untuk lembur dan tukar jadwal.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ALUR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Bagaimana roster terisi</a:t>
            </a:r>
          </a:p>
        </p:txBody>
      </p:sp>
      <p:pic>
        <p:nvPicPr>
          <p:cNvPr id="5" name="Picture 4" descr="alur-4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10874959" cy="28651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5132845"/>
            <a:ext cx="1371600" cy="127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334013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Sel yang pernah diubah manual atau berasal dari impor Excel selalu menang atas pola — itulah sebabnya generator otomatis aman dijalankan tiap hari.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20">
                <a:solidFill>
                  <a:srgbClr val="5EB9C4"/>
                </a:solidFill>
                <a:latin typeface="Segoe UI"/>
              </a:rP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Persiapan 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6CD"/>
                </a:solidFill>
                <a:latin typeface="Segoe UI"/>
              </a:rPr>
              <a:t>Data induk yang harus ada sebelum karyawan pertama bisa dimasukkan. Dikerjakan sekali, lalu jarang disentuh lagi.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18527" y="2157984"/>
            <a:ext cx="12700" cy="1536192"/>
          </a:xfrm>
          <a:prstGeom prst="rect">
            <a:avLst/>
          </a:prstGeom>
          <a:solidFill>
            <a:srgbClr val="2C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9423" y="2157984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Urutan sembilan 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9423" y="2542032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Organisasi &amp;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9423" y="292608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Cuti &amp; pola jadwal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9423" y="3310128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Pengaturan &amp; akses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PERSIAPAN 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Urutan pengerjaan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Setiap langkah membutuhkan langkah sebelumnya. Mengerjakan di luar urutan akan membuat pilihan pada formulir kosong.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432304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706624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9806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68833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Lokasi Kerja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300837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Kantor, gudang, cabang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2432304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706624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9806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68833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Divisi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300837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Pengelompokan fungsi kerja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432304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2706624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279806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68833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Jabatan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300837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Posisi + peran login default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94175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3968495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05993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3950207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Shift Kerja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270247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Jam masuk, pulang, toleransi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25696" y="3694175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3968495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05993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950207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Hari Libur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4270247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Kalender setahun penuh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3024" y="3694175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3968495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405993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3950207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Jenis Cuti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4270247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Label absensi + kuota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956046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" y="5230366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32180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9616" y="521207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Pola Jadwal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9616" y="553211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Mingguan tetap / rotasi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25696" y="4956046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63440" y="5230366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532180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521207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Pengaturan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944" y="553211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Pola jam kantor default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93024" y="4956046"/>
            <a:ext cx="3529584" cy="1042415"/>
          </a:xfrm>
          <a:prstGeom prst="rect">
            <a:avLst/>
          </a:prstGeom>
          <a:noFill/>
          <a:ln w="11430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30768" y="5230366"/>
            <a:ext cx="420624" cy="420624"/>
          </a:xfrm>
          <a:prstGeom prst="ellipse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8" y="532180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521207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Kontrol Akses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553211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6F7F8C"/>
                </a:solidFill>
                <a:latin typeface="Segoe UI"/>
              </a:rPr>
              <a:t>Peran &amp; cakupan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PERSIAPAN 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Lokasi, divisi, jabatan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Tiga data yang wajib ada sebelum satu pun karyawan bisa disimpan.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8954" y="2294763"/>
            <a:ext cx="6803898" cy="4105923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2304288"/>
            <a:ext cx="6784848" cy="4086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04288"/>
            <a:ext cx="37792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B"/>
                </a:solidFill>
                <a:latin typeface="Segoe UI"/>
              </a:rPr>
              <a:t>Lokasi kerja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Kodenya ikut menjadi bagian nomor karyawan yang dibuat otomatis.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Divisi per lokasi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Satu lokasi hanya menawarkan divisi yang dicentang untuknya.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Jabatan per divisi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Sekaligus menentukan peran login default karyawan baru.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138928"/>
            <a:ext cx="3779215" cy="92811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138928"/>
            <a:ext cx="36576" cy="928116"/>
          </a:xfrm>
          <a:prstGeom prst="rect">
            <a:avLst/>
          </a:prstGeom>
          <a:solidFill>
            <a:srgbClr val="8A5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39512"/>
            <a:ext cx="34134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8A5512"/>
                </a:solidFill>
                <a:latin typeface="Segoe UI"/>
              </a:rPr>
              <a:t>JANGAN DIHAPUS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3413455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Yang masih dipakai tidak bisa dihapus. Ubah jadi Nonaktif agar hilang dari pilihan tanpa membuang riwayat.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PERSIAPAN 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Shift kerja &amp; hari libur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Shift menjadi dasar semua perhitungan telat, jam kerja, dan lembur. Hari libur mengalahkan semuanya.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-sh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5367528" cy="3233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6411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8-holid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95728"/>
            <a:ext cx="5367528" cy="3233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Shift: jam masuk–pulang, istirahat, toleransi, dan aturan lembur.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Hari libur: masukkan kalender setahun penuh di awal tahun.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32704"/>
            <a:ext cx="10874959" cy="740664"/>
          </a:xfrm>
          <a:prstGeom prst="rect">
            <a:avLst/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632704"/>
            <a:ext cx="36576" cy="74066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73328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0D5F6B"/>
                </a:solidFill>
                <a:latin typeface="Segoe UI"/>
              </a:rPr>
              <a:t>SHIFT MALAM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43600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Isi jam apa adanya, misalnya 23.00–07.00. Aplikasi otomatis mengenali jam pulang jatuh esok hari — jangan dipecah jadi dua shift.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PERSIAPAN 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Jenis cuti &amp; pola jadwal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Jenis cuti menentukan label absensi dan pemotongan kuota. Pola jadwal menghasilkan roster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5-leave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5367528" cy="3233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6411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9-schedule-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95728"/>
            <a:ext cx="5367528" cy="3233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Hanya Cuti Tahunan yang memotong kuota; WFH dan Dinas Luar tetap hari kerja.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Dua tipe pola: mingguan tetap (kantor) dan rotasi N hari (gudang).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PERSIAPAN 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Pengaturan &amp; kontrol akses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Dua halaman terakhir sebelum sistem siap dipakai.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5367528" cy="3233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6411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7-access-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95728"/>
            <a:ext cx="5367528" cy="3233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Pengaturan: saklar perpanjang roster otomatis dan pola jam kantor.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Kontrol akses: matriks menu × aksi per peran, plus cakupan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32704"/>
            <a:ext cx="10874959" cy="553212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632704"/>
            <a:ext cx="36576" cy="553212"/>
          </a:xfrm>
          <a:prstGeom prst="rect">
            <a:avLst/>
          </a:prstGeom>
          <a:solidFill>
            <a:srgbClr val="8A5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73328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8A5512"/>
                </a:solidFill>
                <a:latin typeface="Segoe UI"/>
              </a:rPr>
              <a:t>JANGAN KUNCI DIRI SENDIRI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43600"/>
            <a:ext cx="10509199" cy="187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Pastikan selalu ada satu akun superadmin berhak penuh sebelum menyimpan perubahan hak akses.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20">
                <a:solidFill>
                  <a:srgbClr val="5EB9C4"/>
                </a:solidFill>
                <a:latin typeface="Segoe UI"/>
              </a:rPr>
              <a:t>BAGIAN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Pekerjaan Harian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6CD"/>
                </a:solidFill>
                <a:latin typeface="Segoe UI"/>
              </a:rPr>
              <a:t>Memasukkan karyawan, mengisi roster, dan menjaga data absensi tetap benar.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18527" y="2157984"/>
            <a:ext cx="12700" cy="1536192"/>
          </a:xfrm>
          <a:prstGeom prst="rect">
            <a:avLst/>
          </a:prstGeom>
          <a:solidFill>
            <a:srgbClr val="2C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9423" y="2157984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Data karyawan &amp; kontrak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9423" y="2542032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Roster dan penugasan pola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9423" y="292608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Mesin absensi &amp; log punch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9423" y="3310128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Absensi harian &amp; koreksi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DATA KARYAWAN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Daftar karyawan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Pusat data kepegawaian: mencari, menyaring, dan menjalankan tindakan massal.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8954" y="2294763"/>
            <a:ext cx="6803898" cy="4105923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employees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2304288"/>
            <a:ext cx="6784848" cy="4086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04288"/>
            <a:ext cx="37792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B"/>
                </a:solidFill>
                <a:latin typeface="Segoe UI"/>
              </a:rPr>
              <a:t>Kartu ringkasan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Berfungsi ganda sebagai penyaring cepat per status.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Nomor otomatis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Format COK[bulan][tahun]-[kode lokasi][id], tidak bisa diisi manual.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Tindakan massal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Perpanjang kontrak, atur jam kantor, nonaktifkan — untuk banyak orang sekaligus.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138928"/>
            <a:ext cx="3779215" cy="92811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138928"/>
            <a:ext cx="36576" cy="928116"/>
          </a:xfrm>
          <a:prstGeom prst="rect">
            <a:avLst/>
          </a:prstGeom>
          <a:solidFill>
            <a:srgbClr val="8A5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39512"/>
            <a:ext cx="34134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8A5512"/>
                </a:solidFill>
                <a:latin typeface="Segoe UI"/>
              </a:rPr>
              <a:t>NONAKTIFKAN, JANGAN HAPUS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3413455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Menonaktifkan menyimpan seluruh riwayat absensi dan cuti. Menghapus membuangnya dan tidak bisa dibatalkan.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DATA KARYAWAN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Menambah karyawan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Satu formulir mencakup data pribadi, penempatan, kontrak pertama, PIN mesin, dan akun login.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8954" y="2294763"/>
            <a:ext cx="6803898" cy="4105923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employee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2304288"/>
            <a:ext cx="6784848" cy="4086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04288"/>
            <a:ext cx="37792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B"/>
                </a:solidFill>
                <a:latin typeface="Segoe UI"/>
              </a:rPr>
              <a:t>Pilih berurutan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Lokasi menyaring divisi; divisi menyaring jabatan.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Atasan Langsung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Menentukan ke siapa pengajuan cuti dan lembur dikirim. Sangat disarankan diisi.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PIN mesin absensi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Nomor ID di mesin sidik jari. Tanpa ini, tap masuk ke daftar “belum cocok”.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Akun login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Hanya dibuat bila Email dan Password diisi bersamaan.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DATA KARYAWAN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Impor massal &amp; kontrak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Untuk puluhan karyawan sekaligus, gunakan impor Excel. Kontrak dipantau dari halaman terpisah.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Kolom wajib pada template impor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88336"/>
            <a:ext cx="1975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KOLOM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2688336"/>
            <a:ext cx="27980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KETENTUAN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26080"/>
            <a:ext cx="5029200" cy="127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017520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Nama Lengkap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017520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Wajib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83280"/>
            <a:ext cx="5029200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74720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Tanggal Bergabung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3474720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Format YYYY-MM-DD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40480"/>
            <a:ext cx="5029200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931920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Status Kepegawaian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931920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Aktif / Nonaktif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297680"/>
            <a:ext cx="5029200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89120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Lokasi · Divisi · Jabatan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389120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Harus sudah terdaftar &amp; saling cocok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82896"/>
            <a:ext cx="5029200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974336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Nomor Kontrak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4974336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Wajib dan unik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340096"/>
            <a:ext cx="5029200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431536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Jenis Kontrak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5431536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PKWT, PKWTT, Probation, Internship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925312"/>
            <a:ext cx="5029200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016752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Tanggal Kontrak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6016752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Selesai wajib kecuali PKWTT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82512"/>
            <a:ext cx="5029200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0963" y="2276475"/>
            <a:ext cx="6017514" cy="3632242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5-contr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86000"/>
            <a:ext cx="5998464" cy="36131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90488" y="5943600"/>
            <a:ext cx="5998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Kontrak yang akan berakhir diingatkan otomatis pada H-30, H-14, dan H-7. Yang sudah lewat tanggal dinonaktifkan pukul 00.05.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PENJADWALAN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Roster bulanan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Baris berisi karyawan, kolom berisi tanggal, tiap sel berisi kode shift atau tanda libur.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8954" y="2294763"/>
            <a:ext cx="6803898" cy="4105923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-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2304288"/>
            <a:ext cx="6784848" cy="4086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04288"/>
            <a:ext cx="37792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B"/>
                </a:solidFill>
                <a:latin typeface="Segoe UI"/>
              </a:rPr>
              <a:t>Kode shift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REG, PG, SG, ML — sesuai kode di master shift.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Tanda —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Libur sesuai pola jadwal.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Sel berwarna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Cuti yang sudah disetujui, atau hari yang diubah manual.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Klik satu sel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Untuk mengganti shift, menandai libur, atau menandai WFH.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138928"/>
            <a:ext cx="3779215" cy="928116"/>
          </a:xfrm>
          <a:prstGeom prst="rect">
            <a:avLst/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138928"/>
            <a:ext cx="36576" cy="928116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39512"/>
            <a:ext cx="34134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0D5F6B"/>
                </a:solidFill>
                <a:latin typeface="Segoe UI"/>
              </a:rPr>
              <a:t>PERUBAHAN MANUAL SELALU MENANG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3413455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Sel yang pernah diubah manual tidak akan ditimpa generator otomatis maupun tombol Generate Ulang.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PENJADWALAN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Menugaskan pola &amp; jaring pengaman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Sekali ditugaskan, roster terisi sendiri dan diperpanjang otomatis tiap hari.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-schedules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5367528" cy="3233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6411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2-unschedu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95728"/>
            <a:ext cx="5367528" cy="3233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Tugaskan Pola: satu pola untuk satu regu sekaligus. Tanggal mulai = titik awal siklus rotasi.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Belum Terjadwal: siapa yang tidak punya jadwal pada rentang tanggal tertentu.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32704"/>
            <a:ext cx="10874959" cy="740664"/>
          </a:xfrm>
          <a:prstGeom prst="rect">
            <a:avLst/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632704"/>
            <a:ext cx="36576" cy="740664"/>
          </a:xfrm>
          <a:prstGeom prst="rect">
            <a:avLst/>
          </a:prstGeom>
          <a:solidFill>
            <a:srgbClr val="1F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73328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1F6B45"/>
                </a:solidFill>
                <a:latin typeface="Segoe UI"/>
              </a:rPr>
              <a:t>KEBIASAAN YANG DISARANKAN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43600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Periksa “Belum Terjadwal” setiap awal bulan untuk bulan depan. Lima menit di sini mencegah puluhan koreksi absensi di akhir bulan.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ABSENSI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Mesin absensi &amp; pemantauannya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Mesin mengirim rekaman sendiri. Tugas HR: mendaftarkan mesin dan memetakan PIN karyawan.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-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5367528" cy="3233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6411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-device-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95728"/>
            <a:ext cx="5367528" cy="3233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Perangkat: serial number, lokasi, dan jumlah PIN yang sudah terpetakan.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Monitor: kapan mesin terakhir mengirim data, IP, dan log komunikasi.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32704"/>
            <a:ext cx="10874959" cy="740664"/>
          </a:xfrm>
          <a:prstGeom prst="rect">
            <a:avLst/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632704"/>
            <a:ext cx="36576" cy="740664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73328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0D5F6B"/>
                </a:solidFill>
                <a:latin typeface="Segoe UI"/>
              </a:rPr>
              <a:t>PERINGATAN OTOMATIS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43600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Setiap 15 menit sistem memeriksa mesin yang berhenti mengirim data dan memberi tahu HR — sekali per gangguan, bukan berulang.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ABSENSI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Log punch &amp; koreksi absensi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Dua antrean pekerjaan harian HR: rekaman yang PIN-nya belum dikenali, dan permintaan perbaikan jam.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-pu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5367528" cy="3233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6411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6-corre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95728"/>
            <a:ext cx="5367528" cy="3233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Log punch: rekaman mentah. Yang “belum cocok” dipasangkan manual ke karyawannya.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Koreksi: karyawan mengajukan jam yang benar beserta alasannya; HR memutuskan.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32704"/>
            <a:ext cx="10874959" cy="553212"/>
          </a:xfrm>
          <a:prstGeom prst="rect">
            <a:avLst/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632704"/>
            <a:ext cx="36576" cy="553212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73328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0D5F6B"/>
                </a:solidFill>
                <a:latin typeface="Segoe UI"/>
              </a:rPr>
              <a:t>BILA SATU MESIN MATI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43600"/>
            <a:ext cx="10509199" cy="187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Puluhan orang akan mengajukan koreksi pada hari yang sama. Centang barisnya lalu gunakan Setujui Terpilih.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ABSENSI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Absensi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Papan kehadiran satu hari untuk seluruh karyawan dalam cakupan Anda — layar yang paling sering dibuka HR.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8954" y="2294763"/>
            <a:ext cx="6803898" cy="4105923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attendance-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2304288"/>
            <a:ext cx="6784848" cy="4086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04288"/>
            <a:ext cx="37792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B"/>
                </a:solidFill>
                <a:latin typeface="Segoe UI"/>
              </a:rPr>
              <a:t>Lencana ringkasan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Menghitung seluruh populasi tersaring, bukan hanya halaman yang tampil.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Tombol Jam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Mengisi jam manual untuk kejadian mendesak.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Proses Absensi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Menutup absensi tanggal itu. Berjalan otomatis tiap 01.30 untuk hari sebelumnya.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138928"/>
            <a:ext cx="3779215" cy="928116"/>
          </a:xfrm>
          <a:prstGeom prst="rect">
            <a:avLst/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138928"/>
            <a:ext cx="36576" cy="928116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39512"/>
            <a:ext cx="34134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0D5F6B"/>
                </a:solidFill>
                <a:latin typeface="Segoe UI"/>
              </a:rPr>
              <a:t>URUTAN PENENTUAN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3413455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Hari libur → cuti disetujui → libur jadwal → rekaman jam → bila semua kosong: Alfa.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ABSENSI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Peta absen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Karyawan WFH dan dinas luar absen lewat ponsel dengan selfie dan koordinat GPS.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8954" y="2294763"/>
            <a:ext cx="6803898" cy="4105923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-attendanc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2304288"/>
            <a:ext cx="6784848" cy="4086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04288"/>
            <a:ext cx="37792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B"/>
                </a:solidFill>
                <a:latin typeface="Segoe UI"/>
              </a:rPr>
              <a:t>Bendera hijau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WFH.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Bendera biru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Dinas luar.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Lingkaran pucat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Akurasi GPS yang dilaporkan perangkat.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Daftar “Belum Absen”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Dijadwalkan kerja jarak jauh tetapi belum ada koordinat — perlu ditindaklanjuti hari itu juga.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20">
                <a:solidFill>
                  <a:srgbClr val="5EB9C4"/>
                </a:solidFill>
                <a:latin typeface="Segoe UI"/>
              </a:rPr>
              <a:t>BAGIAN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Pengajuan &amp; Laporan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6CD"/>
                </a:solidFill>
                <a:latin typeface="Segoe UI"/>
              </a:rPr>
              <a:t>Tiga jenis pengajuan dari karyawan, dan tiga laporan yang menjawab pertanyaan berbeda.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18527" y="2157984"/>
            <a:ext cx="12700" cy="1536192"/>
          </a:xfrm>
          <a:prstGeom prst="rect">
            <a:avLst/>
          </a:prstGeom>
          <a:solidFill>
            <a:srgbClr val="2C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9423" y="2157984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Cuti &amp; izin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9423" y="2542032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Lembur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9423" y="292608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Tukar jadwal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9423" y="3310128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Rekap kehadiran, log, cuti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PENGAJUAN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Cuti &amp; izin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Persetujuan satu tahap. Keputusan atasan langsung bersifat final.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276475"/>
            <a:ext cx="6694170" cy="4039828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3-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86000"/>
            <a:ext cx="6675120" cy="40207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62672" y="22860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Status pengajuan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62672" y="2670048"/>
            <a:ext cx="1613916" cy="237744"/>
          </a:xfrm>
          <a:prstGeom prst="roundRect">
            <a:avLst>
              <a:gd name="adj" fmla="val 28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8A5512"/>
                </a:solidFill>
                <a:latin typeface="Segoe UI"/>
              </a:rPr>
              <a:t>  Menunggu Atasan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96265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Jalur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3328416"/>
            <a:ext cx="1303020" cy="237744"/>
          </a:xfrm>
          <a:prstGeom prst="roundRect">
            <a:avLst>
              <a:gd name="adj" fmla="val 28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8A5512"/>
                </a:solidFill>
                <a:latin typeface="Segoe UI"/>
              </a:rPr>
              <a:t>  Menunggu HR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362102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Karyawan belum punya atasan terdaftar.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3986784"/>
            <a:ext cx="1147572" cy="237744"/>
          </a:xfrm>
          <a:prstGeom prst="roundRect">
            <a:avLst>
              <a:gd name="adj" fmla="val 2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6B45"/>
                </a:solidFill>
                <a:latin typeface="Segoe UI"/>
              </a:rPr>
              <a:t>  Disetujui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27939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Absensi otomatis berubah; kuota berkurang.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4645152"/>
            <a:ext cx="992124" cy="237744"/>
          </a:xfrm>
          <a:prstGeom prst="roundRect">
            <a:avLst>
              <a:gd name="adj" fmla="val 28000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9A3128"/>
                </a:solidFill>
                <a:latin typeface="Segoe UI"/>
              </a:rPr>
              <a:t>  Ditolak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93776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Alasan tercatat dan terlihat karyawan.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62672" y="5358384"/>
            <a:ext cx="3840480" cy="928116"/>
          </a:xfrm>
          <a:prstGeom prst="rect">
            <a:avLst/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62672" y="5358384"/>
            <a:ext cx="36576" cy="928116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5458968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0D5F6B"/>
                </a:solidFill>
                <a:latin typeface="Segoe UI"/>
              </a:rPr>
              <a:t>BAGI ATASAN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5669280"/>
            <a:ext cx="3474720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Pengajuan anak buah muncul di menu Self-service › Cuti Saya, bukan di halaman ini.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PENGAJUAN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Lembur &amp; tukar jadwal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Keduanya mengikuti pola yang sama dengan cuti, dengan satu tambahan penting pada masing-masing.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7-over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5367528" cy="3233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36411" y="2386203"/>
            <a:ext cx="5386578" cy="3252196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9-sw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95728"/>
            <a:ext cx="5367528" cy="3233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Lembur: atasan bisa menyetujui jumlah menit yang berbeda dari yang diajukan.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5775178"/>
            <a:ext cx="5367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F7F8C"/>
                </a:solidFill>
                <a:latin typeface="Segoe UI"/>
              </a:rPr>
              <a:t>Tukar jadwal: rekan menyetujui lebih dulu, HR memberi keputusan akhir.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32704"/>
            <a:ext cx="10874959" cy="740664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632704"/>
            <a:ext cx="36576" cy="740664"/>
          </a:xfrm>
          <a:prstGeom prst="rect">
            <a:avLst/>
          </a:prstGeom>
          <a:solidFill>
            <a:srgbClr val="8A5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733288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8A5512"/>
                </a:solidFill>
                <a:latin typeface="Segoe UI"/>
              </a:rPr>
              <a:t>DUA ANGKA LEMBUR YANG BERBEDA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43600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Lembur terhitung muncul sendiri dari jam pulang; lembur disetujui lahir dari keputusan atasan. Yang dibayar adalah yang kedua.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LAPORAN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Tiga laporan, tiga pertanyaan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Semuanya bisa disaring per periode, lokasi, dan divisi, lalu diunduh sebagai Excel atau PDF.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843" y="2331339"/>
            <a:ext cx="3548634" cy="2145105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1-report-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40864"/>
            <a:ext cx="3529584" cy="21260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4649799"/>
            <a:ext cx="3529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Rekap Kehadiran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69839"/>
            <a:ext cx="3529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Berapa hari orang hadir, telat, dan alfa. Laporan utama untuk penggajian.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171" y="2331339"/>
            <a:ext cx="3548634" cy="2145105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2-report-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340864"/>
            <a:ext cx="3529584" cy="21260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25696" y="4649799"/>
            <a:ext cx="3529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Log Absensi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4969839"/>
            <a:ext cx="3529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Jam berapa persisnya mereka datang. Untuk menelusuri kasus.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499" y="2331339"/>
            <a:ext cx="3548634" cy="2145105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33-report-le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40864"/>
            <a:ext cx="3529584" cy="21260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93024" y="4649799"/>
            <a:ext cx="3529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Rekap Cuti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4969839"/>
            <a:ext cx="3529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Berapa cuti terpakai dan berapa sisa kuota tahun berjalan.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77840"/>
            <a:ext cx="10874959" cy="553212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577840"/>
            <a:ext cx="36576" cy="553212"/>
          </a:xfrm>
          <a:prstGeom prst="rect">
            <a:avLst/>
          </a:prstGeom>
          <a:solidFill>
            <a:srgbClr val="8A5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678424"/>
            <a:ext cx="105091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20">
                <a:solidFill>
                  <a:srgbClr val="8A5512"/>
                </a:solidFill>
                <a:latin typeface="Segoe UI"/>
              </a:rPr>
              <a:t>TARIK SETELAH TANGGAL TERAKHIR DITUTUP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88736"/>
            <a:ext cx="10509199" cy="187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4D5A"/>
                </a:solidFill>
                <a:latin typeface="Segoe UI"/>
              </a:rPr>
              <a:t>Absensi hari berjalan baru ditutup dini hari berikutnya. Tarik rekap bulanan pada tanggal 1 bulan berikutnya.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20">
                <a:solidFill>
                  <a:srgbClr val="5EB9C4"/>
                </a:solidFill>
                <a:latin typeface="Segoe UI"/>
              </a:rPr>
              <a:t>BAGIAN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Untuk Karyawan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6CD"/>
                </a:solidFill>
                <a:latin typeface="Segoe UI"/>
              </a:rPr>
              <a:t>Lima menu Self-service yang bisa dibuka dari ponsel, tanpa memasang aplikasi apa pun.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18527" y="2157984"/>
            <a:ext cx="12700" cy="1536192"/>
          </a:xfrm>
          <a:prstGeom prst="rect">
            <a:avLst/>
          </a:prstGeom>
          <a:solidFill>
            <a:srgbClr val="2C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9423" y="2157984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Jadwal Saya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9423" y="2542032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Absensi Saya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9423" y="292608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Cuti Saya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9423" y="3310128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2DCE1"/>
                </a:solidFill>
                <a:latin typeface="Segoe UI"/>
              </a:rPr>
              <a:t>Lembur &amp; tukar jadwal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UNTUK KARYAWAN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Self-service dari ponsel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Cukup buka alamat aplikasi lewat peramban. Menu yang paling sering dipakai muncul di baris bawah layar.</a:t>
            </a:r>
          </a:p>
        </p:txBody>
      </p:sp>
      <p:pic>
        <p:nvPicPr>
          <p:cNvPr id="6" name="Picture 5" descr="52-mobile-my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304288"/>
            <a:ext cx="1540658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06043" y="2294763"/>
            <a:ext cx="1559707" cy="3219450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568756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Jadwal Saya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5971032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F7F8C"/>
                </a:solidFill>
                <a:latin typeface="Segoe UI"/>
              </a:rPr>
              <a:t>Shift, jam, dan hari libur Anda.</a:t>
            </a:r>
          </a:p>
        </p:txBody>
      </p:sp>
      <p:pic>
        <p:nvPicPr>
          <p:cNvPr id="10" name="Picture 9" descr="50-mobile-my-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305" y="2304288"/>
            <a:ext cx="1540658" cy="3200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86780" y="2294763"/>
            <a:ext cx="1559707" cy="3219450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6305" y="568756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Absensi Saya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6305" y="5971032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F7F8C"/>
                </a:solidFill>
                <a:latin typeface="Segoe UI"/>
              </a:rPr>
              <a:t>Absen berselfie dan ajukan koreksi jam.</a:t>
            </a:r>
          </a:p>
        </p:txBody>
      </p:sp>
      <p:pic>
        <p:nvPicPr>
          <p:cNvPr id="14" name="Picture 13" descr="51-mobile-my-le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042" y="2304288"/>
            <a:ext cx="1540658" cy="32004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67517" y="2294763"/>
            <a:ext cx="1559707" cy="3219450"/>
          </a:xfrm>
          <a:prstGeom prst="rect">
            <a:avLst/>
          </a:prstGeom>
          <a:noFill/>
          <a:ln w="9525">
            <a:solidFill>
              <a:srgbClr val="D5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7042" y="568756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4202B"/>
                </a:solidFill>
                <a:latin typeface="Segoe UI"/>
              </a:rPr>
              <a:t>Cuti Saya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042" y="5971032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F7F8C"/>
                </a:solidFill>
                <a:latin typeface="Segoe UI"/>
              </a:rPr>
              <a:t>Ajukan cuti, pantau sisa kuota.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3042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4202B"/>
                </a:solidFill>
                <a:latin typeface="Segoe UI"/>
              </a:rPr>
              <a:t>Tiga hal yang perlu diingat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724912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B"/>
                </a:solidFill>
                <a:latin typeface="Segoe UI"/>
              </a:rPr>
              <a:t>Absen mandiri hanya pada hari WFH atau dinas luar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Pada hari kerja biasa, kehadiran dicatat lewat mesin sidik jari.</a:t>
            </a:r>
          </a:p>
          <a:p>
            <a:pPr algn="l">
              <a:lnSpc>
                <a:spcPct val="122000"/>
              </a:lnSpc>
              <a:spcBef>
                <a:spcPts val="11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Izinkan kamera dan lokasi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Bila ditolak, tombol absen tidak berfungsi. Ubah di pengaturan situs peramban.</a:t>
            </a:r>
          </a:p>
          <a:p>
            <a:pPr algn="l">
              <a:lnSpc>
                <a:spcPct val="122000"/>
              </a:lnSpc>
              <a:spcBef>
                <a:spcPts val="1100"/>
              </a:spcBef>
            </a:pPr>
            <a:r>
              <a:rPr sz="1150" b="1">
                <a:solidFill>
                  <a:srgbClr val="14202B"/>
                </a:solidFill>
                <a:latin typeface="Segoe UI"/>
              </a:rPr>
              <a:t>Ajukan koreksi pada hari yang sama</a:t>
            </a:r>
          </a:p>
          <a:p>
            <a:pPr algn="l">
              <a:lnSpc>
                <a:spcPct val="122000"/>
              </a:lnSpc>
              <a:spcBef>
                <a:spcPts val="100"/>
              </a:spcBef>
            </a:pPr>
            <a:r>
              <a:rPr sz="1150" b="0">
                <a:solidFill>
                  <a:srgbClr val="3D4D5A"/>
                </a:solidFill>
                <a:latin typeface="Segoe UI"/>
              </a:rPr>
              <a:t>Koreksi yang diajukan berminggu-minggu kemudian jauh lebih sulit disetujui.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RUJUKAN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Sepuluh status absensi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Yang mungkin muncul pada satu hari kerja seorang karyawan.</a:t>
            </a:r>
          </a:p>
        </p:txBody>
      </p:sp>
      <p:pic>
        <p:nvPicPr>
          <p:cNvPr id="6" name="Picture 5" descr="urutan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57984"/>
            <a:ext cx="10874959" cy="12338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3913632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F6B45"/>
                </a:solidFill>
                <a:latin typeface="Segoe UI"/>
              </a:rPr>
              <a:t>  Hadir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941064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Ada rekaman masuk, tidak melewati toleransi.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3913632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8A5512"/>
                </a:solidFill>
                <a:latin typeface="Segoe UI"/>
              </a:rPr>
              <a:t>  Terlambat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3941064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Melewati jam masuk beserta toleransinya.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334256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8A5512"/>
                </a:solidFill>
                <a:latin typeface="Segoe UI"/>
              </a:rPr>
              <a:t>  Pulang Cepat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361688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Pulang sebelum shift berakhir.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5664" y="4334256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9A3128"/>
                </a:solidFill>
                <a:latin typeface="Segoe UI"/>
              </a:rPr>
              <a:t>  Alfa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4361688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Hari kerja tanpa rekaman dan tanpa pengajuan.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54880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E9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0D5F6B"/>
                </a:solidFill>
                <a:latin typeface="Segoe UI"/>
              </a:rPr>
              <a:t>  Cuti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782312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Cuti atau izin yang disetujui.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4754880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8A5512"/>
                </a:solidFill>
                <a:latin typeface="Segoe UI"/>
              </a:rPr>
              <a:t>  Sakit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4782312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Pengajuan sakit yang disetujui.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175504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3D4D5A"/>
                </a:solidFill>
                <a:latin typeface="Segoe UI"/>
              </a:rPr>
              <a:t>  Dinas Luar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202936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Pengajuan dinas luar yang disetujui.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5175504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3D4D5A"/>
                </a:solidFill>
                <a:latin typeface="Segoe UI"/>
              </a:rPr>
              <a:t>  WFH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6" y="5202936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Dijadwalkan atau disetujui kerja dari rumah.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96128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3D4D5A"/>
                </a:solidFill>
                <a:latin typeface="Segoe UI"/>
              </a:rPr>
              <a:t>  Libur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623560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Hari libur nasional atau libur lokasi.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5596128"/>
            <a:ext cx="1371600" cy="237744"/>
          </a:xfrm>
          <a:prstGeom prst="roundRect">
            <a:avLst>
              <a:gd name="adj" fmla="val 2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3D4D5A"/>
                </a:solidFill>
                <a:latin typeface="Segoe UI"/>
              </a:rPr>
              <a:t>  Off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5623560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Libur sesuai pola jadwal karyawan.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50292" cy="27432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48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160">
                <a:solidFill>
                  <a:srgbClr val="0D5F6B"/>
                </a:solidFill>
                <a:latin typeface="Segoe UI"/>
              </a:rPr>
              <a:t>RUJUKAN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4202B"/>
                </a:solidFill>
                <a:latin typeface="Segoe UI"/>
              </a:rPr>
              <a:t>Delapan tugas otomatis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D4D5A"/>
                </a:solidFill>
                <a:latin typeface="Segoe UI"/>
              </a:rPr>
              <a:t>Semuanya bergantung pada satu baris cron di server — bukan delapan cron terpisah.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57984"/>
            <a:ext cx="10874959" cy="530352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41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D6E2E9"/>
                </a:solidFill>
                <a:latin typeface="Consolas"/>
              </a:rPr>
              <a:t>* * * * *  cd /path/ke/hris &amp;&amp; php artisan schedule:run &gt;&gt; storage/logs/scheduler.log 2&gt;&amp;1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07792"/>
            <a:ext cx="16550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WAKTU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2907792"/>
            <a:ext cx="3072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TUGAS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1848" y="2907792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spc="110">
                <a:solidFill>
                  <a:srgbClr val="6F7F8C"/>
                </a:solidFill>
                <a:latin typeface="Segoe UI"/>
              </a:rPr>
              <a:t>FUNGSINYA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145536"/>
            <a:ext cx="10874959" cy="127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1411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Tiap 15 menit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214116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devices:notify-offline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848" y="3214116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Mendeteksi mesin absensi yang berhenti mengirim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557016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255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00.05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3625596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employees:deactivate-expired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8" y="3625596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Menonaktifkan karyawan yang kontraknya sudah berakhir.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68496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0370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00.10 &amp; 00.15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4037076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Pembersihan log &amp; notifikasi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848" y="4037076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Memangkas log mesin dan notifikasi lama.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379976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4855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00.20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448556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schedule:generate-roster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4448556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Memperpanjang roster 60 hari ke depan dari pola.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91456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6003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01.30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860036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attendance:process-day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1848" y="4860036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Menutup absensi kemarin: Alfa, Cuti, Sakit, atau Libur.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02936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27151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06.00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1448" y="5271516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contracts:notify-expiring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41848" y="5271516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Mengingatkan kontrak yang berakhir H-30, H-14, H-7.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614416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6829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14202B"/>
                </a:solidFill>
                <a:latin typeface="Segoe UI"/>
              </a:rPr>
              <a:t>Tgl 1, 00.25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1448" y="5682996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attendance:prune-selfies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41848" y="5682996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3D4D5A"/>
                </a:solidFill>
                <a:latin typeface="Segoe UI"/>
              </a:rPr>
              <a:t>Menghapus foto selfie yang lebih tua dari enam bulan.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6025896"/>
            <a:ext cx="10874959" cy="6350"/>
          </a:xfrm>
          <a:prstGeom prst="rect">
            <a:avLst/>
          </a:prstGeom>
          <a:solidFill>
            <a:srgbClr val="D5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>Ringkasan HRIS · Cahaya Optima Karya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spc="220">
                <a:solidFill>
                  <a:srgbClr val="5EB9C4"/>
                </a:solidFill>
                <a:latin typeface="Segoe UI"/>
              </a:rPr>
              <a:t>LANGKAH BERIKUTNYA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24912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Panduan lengkapnya
ada di buku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197096"/>
            <a:ext cx="27432" cy="4572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114800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Buku Panduan Penggunaan HRIS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389120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7B6BF"/>
                </a:solidFill>
                <a:latin typeface="Segoe UI"/>
              </a:rPr>
              <a:t>85 halaman, 43 bab, seluruh layar disertai tangkapan layar dan langkah rinci.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910328"/>
            <a:ext cx="27432" cy="4572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828032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Bagian VIII bisa dicetak terpisah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102352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7B6BF"/>
                </a:solidFill>
                <a:latin typeface="Segoe UI"/>
              </a:rPr>
              <a:t>Lima bab panduan Self-service untuk dibagikan ke seluruh karyawan.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23560"/>
            <a:ext cx="27432" cy="457200"/>
          </a:xfrm>
          <a:prstGeom prst="rect">
            <a:avLst/>
          </a:prstGeom>
          <a:solidFill>
            <a:srgbClr val="0D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541264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Lampiran A untuk admin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815584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7B6BF"/>
                </a:solidFill>
                <a:latin typeface="Segoe UI"/>
              </a:rPr>
              <a:t>Satu baris cron yang harus dipasang, beserta cara memastikannya berjalan.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9AA8B3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3167" y="640080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>
                <a:solidFill>
                  <a:srgbClr val="0D5F6B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